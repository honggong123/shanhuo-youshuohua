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1" Type="http://schemas.openxmlformats.org/officeDocument/2006/relationships/tableStyles" Target="tableStyles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osition: 'relative', padding: 0 }}&gt;&#10;    {/* 顶部深蓝装饰带 */}&#10;    &lt;Box style={{ position: 'absolute', top: 0, left: 0, width: 1280, height: 8, background: '#1E4FA8' }} /&gt;&#10;&#10;    {/* 左侧竖向色块装饰 */}&#10;    &lt;Box style={{ position: 'absolute', top: 0, left: 0, width: 14, height: 720, background: '#0E3F8C' }} /&gt;&#10;&#10;    {/* 右上角浅蓝几何装饰 */}&#10;    &lt;Box style={{ position: 'absolute', top: 60, right: 70, width: 220, height: 220, background: '#F0F5FC', borderRadius: 12 }} /&gt;&#10;    &lt;Box style={{ position: 'absolute', top: 130, right: 130, width: 220, height: 220, background: '#E8EFF8', borderRadius: 12 }} /&gt;&#10;&#10;    {/* 主内容 */}&#10;    &lt;Box style={{ position: 'relative', paddingTop: 130, paddingLeft: 110, paddingRight: 110, flexDirection: 'column' }}&gt;&#10;&#10;        {/* 课题标签 */}&#10;        &lt;Box style={{ flexDirection: 'row', alignItems: 'center', gap: 14, marginBottom: 30 }}&gt;&#10;            &lt;Box style={{ width: 44, height: 4, background: '#1E4FA8' }} /&gt;&#10;            &lt;Text style={{ fontSize: 17, color: '#1E4FA8', fontWeight: 600, letterSpacing: 3 }}&gt;&#10;                全国大学生数字媒体科技作品及创意竞赛&#10;            &lt;/Text&gt;&#10;        &lt;/Box&gt;&#10;&#10;        {/* 中文主标 */}&#10;        &lt;Text style={{ fontSize: 84, fontWeight: 'bold', color: '#0E3F8C', lineHeight: 1.12, letterSpacing: 4 }}&gt;&#10;            山货有话说&#10;        &lt;/Text&gt;&#10;&#10;        {/* 英文副标 */}&#10;        &lt;Text style={{ fontSize: 26, color: '#3D7BD9', fontWeight: 'bold', letterSpacing: 1.5, marginTop: 16, fontFamily: 'Times New Roman' }}&gt;&#10;            Mountains Speak — An AI Platform for Agricultural Marketing &amp; Rural Tourism&#10;        &lt;/Text&gt;&#10;&#10;        {/* 中文副标 */}&#10;        &lt;Text style={{ fontSize: 30, color: '#1A2230', fontWeight: 600, marginTop: 26, letterSpacing: 2 }}&gt;&#10;            AI 助农数字文创平台&#10;        &lt;/Text&gt;&#10;&#10;        {/* 一句话定位 */}&#10;        &lt;Box style={{ flexDirection: 'row', alignItems: 'center', gap: 10, marginTop: 18 }}&gt;&#10;            &lt;Box style={{ width: 6, height: 6, background: '#D9534F', borderRadius: 3 }} /&gt;&#10;            &lt;Text style={{ fontSize: 20, color: '#4A5568' }}&gt;&#10;                一张照片，30 秒生成山货营销五件套&#10;            &lt;/Text&gt;&#10;        &lt;/Box&gt;&#10;&#10;        {/* 分隔线 */}&#10;        &lt;Box style={{ width: 620, height: 1, background: '#D6DCE5', marginTop: 52, marginBottom: 28 }} /&gt;&#10;&#10;        {/* 信息区 */}&#10;        &lt;Box style={{ flexDirection: 'row', gap: 90 }}&gt;&#10;            &lt;Box style={{ flexDirection: 'column', gap: 12 }}&gt;&#10;                &lt;Text style={{ fontSize: 15, color: '#8B97A8', letterSpacing: 1 }}&gt;汇 报 单 位&lt;/Text&gt;&#10;                &lt;Text style={{ fontSize: 21, color: '#1A2230', fontWeight: 600 }}&gt;南昌航空大学科技学院&lt;/Text&gt;&#10;            &lt;/Box&gt;&#10;            &lt;Box style={{ flexDirection: 'column', gap: 12 }}&gt;&#10;                &lt;Text style={{ fontSize: 15, color: '#8B97A8', letterSpacing: 1 }}&gt;团 队 成 员&lt;/Text&gt;&#10;                &lt;Text style={{ fontSize: 21, color: '#1A2230', fontWeight: 600 }}&gt;刘奉淳　陈邦楠　张进超　周涛&lt;/Text&gt;&#10;            &lt;/Box&gt;&#10;            &lt;Box style={{ flexDirection: 'column', gap: 12 }}&gt;&#10;                &lt;Text style={{ fontSize: 15, color: '#8B97A8', letterSpacing: 1 }}&gt;指 导 教 师&lt;/Text&gt;&#10;                &lt;Text style={{ fontSize: 21, color: '#1A2230', fontWeight: 600 }}&gt;段欣妤　陈超&lt;/Text&gt;&#10;            &lt;/Box&gt;&#10;        &lt;/Box&gt;&#10;    &lt;/Box&gt;&#10;&#10;    {/* 底部信息条 */}&#10;    &lt;Box style={{ position: 'absolute', bottom: 0, left: 0, width: 1280, height: 54, background: '#F7F9FC', flexDirection: 'row', alignItems: 'center', justifyContent: 'space-between', paddingLeft: 110, paddingRight: 110 }}&gt;&#10;        &lt;Text style={{ fontSize: 15, color: '#8B97A8' }}&gt;答辩演示文稿&lt;/Text&gt;&#10;        &lt;Text style={{ fontSize: 15, color: '#1E4FA8', fontWeight: 600 }}&gt;2026 年 10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9429750" y="571500"/>
            <a:ext cx="2095500" cy="2095500"/>
          </a:xfrm>
          <a:prstGeom prst="roundRect">
            <a:avLst>
              <a:gd name="adj" fmla="val 545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8858250" y="1238250"/>
            <a:ext cx="2095500" cy="2095500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1047750" y="1323975"/>
            <a:ext cx="4191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600200" y="123825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1E4FA8"/>
                </a:solidFill>
                <a:latin typeface="Microsoft YaHei"/>
                <a:ea typeface="Microsoft YaHei"/>
              </a:rPr>
              <a:t>全国大学生数字媒体科技作品及创意竞赛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47750" y="1724025"/>
            <a:ext cx="10096500" cy="10763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6300" b="1" spc="300">
                <a:solidFill>
                  <a:srgbClr val="0E3F8C"/>
                </a:solidFill>
                <a:latin typeface="Microsoft YaHei"/>
                <a:ea typeface="Microsoft YaHei"/>
              </a:rPr>
              <a:t>山货有话说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47750" y="2952750"/>
            <a:ext cx="1009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113">
                <a:solidFill>
                  <a:srgbClr val="3D7BD9"/>
                </a:solidFill>
                <a:latin typeface="Times New Roman"/>
                <a:ea typeface="Times New Roman"/>
              </a:rPr>
              <a:t>Mountains Speak — An AI Platform for Agricultural Marketing &amp; Rural Tourism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47750" y="3505200"/>
            <a:ext cx="10096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150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 spc="150">
                <a:solidFill>
                  <a:srgbClr val="1A2230"/>
                </a:solidFill>
                <a:latin typeface="Microsoft YaHei"/>
                <a:ea typeface="Microsoft YaHei"/>
              </a:rPr>
              <a:t>助农数字文创平台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047750" y="4105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200150" y="401955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一张照片，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秒生成山货营销五件套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1047750" y="4743450"/>
            <a:ext cx="5905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47750" y="50196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汇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报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单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47750" y="5305425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南昌航空大学科技学院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905250" y="5019675"/>
            <a:ext cx="2800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团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队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成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员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905250" y="5305425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刘奉淳　陈邦楠　张进超　周涛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562850" y="5019675"/>
            <a:ext cx="120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指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导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教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师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562850" y="53054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段欣妤　陈超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0" y="6343650"/>
            <a:ext cx="12192000" cy="514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47750" y="65151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答辩演示文稿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201275" y="6515100"/>
            <a:ext cx="942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年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62" name="" descr="&lt;Slide style={{ width: 1280, height: 720, background: '#FFFFFF', position: 'relative', padding: 0 }}&gt;&#10;    {/* 顶部装饰带 */}&#10;    &lt;Box style={{ position: 'absolute', top: 0, left: 0, width: 1280, height: 8, background: '#1E4FA8' }} /&gt;&#10;    &lt;Box style={{ position: 'absolute', top: 0, left: 0, width: 14, height: 720, background: '#0E3F8C' }} /&gt;&#10;&#10;    {/* 主内容 */}&#10;    &lt;Box style={{ position: 'relative', paddingTop: 72, paddingLeft: 110, paddingRight: 110, flexDirection: 'column' }}&gt;&#10;&#10;        {/* 页眉 */}&#10;        &lt;Box style={{ flexDirection: 'row', alignItems: 'flex-end', gap: 18, marginBottom: 46 }}&gt;&#10;            &lt;Box style={{ width: 6, height: 40, background: '#1E4FA8', borderRadius: 3 }} /&gt;&#10;            &lt;Box style={{ flexDirection: 'column', gap: 6 }}&gt;&#10;                &lt;Text style={{ fontSize: 40, fontWeight: 'bold', color: '#0E3F8C', letterSpacing: 3 }}&gt;目录&lt;/Text&gt;&#10;                &lt;Text style={{ fontSize: 15, color: '#8B97A8', letterSpacing: 3, fontFamily: 'Times New Roman' }}&gt;CONTENTS&lt;/Text&gt;&#10;            &lt;/Box&gt;&#10;        &lt;/Box&gt;&#10;&#10;        {/* 五章导航 */}&#10;        &lt;Box style={{ flexDirection: 'column', gap: 16 }}&gt;&#10;&#10;            {/* 01 */}&#10;            &lt;Box style={{ flexDirection: 'row', alignItems: 'center', gap: 26, background: '#F5F8FD', borderRadius: 10, paddingLeft: 30, paddingRight: 30, paddingTop: 18, paddingBottom: 18 }}&gt;&#10;                &lt;Text style={{ fontSize: 38, fontWeight: 'bold', color: '#B9CDE9', fontFamily: 'Times New Roman', width: 74 }}&gt;01&lt;/Text&gt;&#10;                &lt;Box style={{ width: 1, height: 42, background: '#D6DCE5' }} /&gt;&#10;                &lt;Box style={{ flexDirection: 'column', gap: 6 }}&gt;&#10;                    &lt;Text style={{ fontSize: 25, fontWeight: 'bold', color: '#1A2230', letterSpacing: 1 }}&gt;创作背景与需求分析&lt;/Text&gt;&#10;                    &lt;Text style={{ fontSize: 14, color: '#8B97A8' }}&gt;山区农产品营销与乡村文旅讲解的真实痛点&lt;/Text&gt;&#10;                &lt;/Box&gt;&#10;            &lt;/Box&gt;&#10;&#10;            {/* 02 */}&#10;            &lt;Box style={{ flexDirection: 'row', alignItems: 'center', gap: 26, background: '#F5F8FD', borderRadius: 10, paddingLeft: 30, paddingRight: 30, paddingTop: 18, paddingBottom: 18 }}&gt;&#10;                &lt;Text style={{ fontSize: 38, fontWeight: 'bold', color: '#B9CDE9', fontFamily: 'Times New Roman', width: 74 }}&gt;02&lt;/Text&gt;&#10;                &lt;Box style={{ width: 1, height: 42, background: '#D6DCE5' }} /&gt;&#10;                &lt;Box style={{ flexDirection: 'column', gap: 6 }}&gt;&#10;                    &lt;Text style={{ fontSize: 25, fontWeight: 'bold', color: '#1A2230', letterSpacing: 1 }}&gt;作品方案设计&lt;/Text&gt;&#10;                    &lt;Text style={{ fontSize: 14, color: '#8B97A8' }}&gt;总体架构、五大功能模块与全链路流程&lt;/Text&gt;&#10;                &lt;/Box&gt;&#10;            &lt;/Box&gt;&#10;&#10;            {/* 03 */}&#10;            &lt;Box style={{ flexDirection: 'row', alignItems: 'center', gap: 26, background: '#F5F8FD', borderRadius: 10, paddingLeft: 30, paddingRight: 30, paddingTop: 18, paddingBottom: 18 }}&gt;&#10;                &lt;Text style={{ fontSize: 38, fontWeight: 'bold', color: '#B9CDE9', fontFamily: 'Times New Roman', width: 74 }}&gt;03&lt;/Text&gt;&#10;                &lt;Box style={{ width: 1, height: 42, background: '#D6DCE5' }} /&gt;&#10;                &lt;Box style={{ flexDirection: 'column', gap: 6 }}&gt;&#10;                    &lt;Text style={{ fontSize: 25, fontWeight: 'bold', color: '#1A2230', letterSpacing: 1 }}&gt;关键技术与实现&lt;/Text&gt;&#10;                    &lt;Text style={{ fontSize: 14, color: '#8B97A8' }}&gt;中文海报合成、统一模型网关等核心技术攻坚&lt;/Text&gt;&#10;                &lt;/Box&gt;&#10;            &lt;/Box&gt;&#10;&#10;            {/* 04 */}&#10;            &lt;Box style={{ flexDirection: 'row', alignItems: 'center', gap: 26, background: '#F5F8FD', borderRadius: 10, paddingLeft: 30, paddingRight: 30, paddingTop: 18, paddingBottom: 18 }}&gt;&#10;                &lt;Text style={{ fontSize: 38, fontWeight: 'bold', color: '#B9CDE9', fontFamily: 'Times New Roman', width: 74 }}&gt;04&lt;/Text&gt;&#10;                &lt;Box style={{ width: 1, height: 42, background: '#D6DCE5' }} /&gt;&#10;                &lt;Box style={{ flexDirection: 'column', gap: 6 }}&gt;&#10;                    &lt;Text style={{ fontSize: 25, fontWeight: 'bold', color: '#1A2230', letterSpacing: 1 }}&gt;系统实现与运行验证&lt;/Text&gt;&#10;                    &lt;Text style={{ fontSize: 14, color: '#8B97A8' }}&gt;线上部署实测数据与现场演示路线&lt;/Text&gt;&#10;                &lt;/Box&gt;&#10;            &lt;/Box&gt;&#10;&#10;            {/* 05 */}&#10;            &lt;Box style={{ flexDirection: 'row', alignItems: 'center', gap: 26, background: '#EDF3FB', borderRadius: 10, paddingLeft: 30, paddingRight: 30, paddingTop: 18, paddingBottom: 18 }}&gt;&#10;                &lt;Text style={{ fontSize: 38, fontWeight: 'bold', color: '#8FB3DE', fontFamily: 'Times New Roman', width: 74 }}&gt;05&lt;/Text&gt;&#10;                &lt;Box style={{ width: 1, height: 42, background: '#D6DCE5' }} /&gt;&#10;                &lt;Box style={{ flexDirection: 'column', gap: 6 }}&gt;&#10;                    &lt;Text style={{ fontSize: 25, fontWeight: 'bold', color: '#0E3F8C', letterSpacing: 1 }}&gt;创新价值与应用展望&lt;/Text&gt;&#10;                    &lt;Text style={{ fontSize: 14, color: '#6B7A90' }}&gt;五个创新点、三方价值与推广前景&lt;/Text&gt;&#10;                &lt;/Box&gt;&#10;            &lt;/Box&gt;&#10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1047750" y="9906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276350" y="685800"/>
            <a:ext cx="981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 spc="225">
                <a:solidFill>
                  <a:srgbClr val="0E3F8C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276350" y="1200150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8B97A8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1047750" y="1809750"/>
            <a:ext cx="10096500" cy="847725"/>
          </a:xfrm>
          <a:prstGeom prst="roundRect">
            <a:avLst>
              <a:gd name="adj" fmla="val 11236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333500" y="2019300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B9CDE9"/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2286000" y="2038350"/>
            <a:ext cx="9525" cy="400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543175" y="1981200"/>
            <a:ext cx="25336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75">
                <a:solidFill>
                  <a:srgbClr val="1A2230"/>
                </a:solidFill>
                <a:latin typeface="Microsoft YaHei"/>
                <a:ea typeface="Microsoft YaHei"/>
              </a:rPr>
              <a:t>创作背景与需求分析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543175" y="232410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山区农产品营销与乡村文旅讲解的真实痛点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1047750" y="2809875"/>
            <a:ext cx="10096500" cy="847725"/>
          </a:xfrm>
          <a:prstGeom prst="roundRect">
            <a:avLst>
              <a:gd name="adj" fmla="val 11236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333500" y="3019425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B9CDE9"/>
                </a:solidFill>
                <a:latin typeface="Times New Roman"/>
                <a:ea typeface="Times New Roman"/>
              </a:rPr>
              <a:t>02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2286000" y="3038475"/>
            <a:ext cx="9525" cy="400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2543175" y="2981325"/>
            <a:ext cx="22669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75">
                <a:solidFill>
                  <a:srgbClr val="1A2230"/>
                </a:solidFill>
                <a:latin typeface="Microsoft YaHei"/>
                <a:ea typeface="Microsoft YaHei"/>
              </a:rPr>
              <a:t>作品方案设计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543175" y="332422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总体架构、五大功能模块与全链路流程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1047750" y="3810000"/>
            <a:ext cx="10096500" cy="847725"/>
          </a:xfrm>
          <a:prstGeom prst="roundRect">
            <a:avLst>
              <a:gd name="adj" fmla="val 11236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333500" y="4019550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B9CDE9"/>
                </a:solidFill>
                <a:latin typeface="Times New Roman"/>
                <a:ea typeface="Times New Roman"/>
              </a:rPr>
              <a:t>03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2286000" y="4038600"/>
            <a:ext cx="9525" cy="400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543175" y="398145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75">
                <a:solidFill>
                  <a:srgbClr val="1A2230"/>
                </a:solidFill>
                <a:latin typeface="Microsoft YaHei"/>
                <a:ea typeface="Microsoft YaHei"/>
              </a:rPr>
              <a:t>关键技术与实现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543175" y="43243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中文海报合成、统一模型网关等核心技术攻坚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1047750" y="4810125"/>
            <a:ext cx="10096500" cy="847725"/>
          </a:xfrm>
          <a:prstGeom prst="roundRect">
            <a:avLst>
              <a:gd name="adj" fmla="val 11236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333500" y="5019675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B9CDE9"/>
                </a:solidFill>
                <a:latin typeface="Times New Roman"/>
                <a:ea typeface="Times New Roman"/>
              </a:rPr>
              <a:t>04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2286000" y="5038725"/>
            <a:ext cx="9525" cy="400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543175" y="4981575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75">
                <a:solidFill>
                  <a:srgbClr val="1A2230"/>
                </a:solidFill>
                <a:latin typeface="Microsoft YaHei"/>
                <a:ea typeface="Microsoft YaHei"/>
              </a:rPr>
              <a:t>系统实现与运行验证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2543175" y="5324475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线上部署实测数据与现场演示路线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1047750" y="5810250"/>
            <a:ext cx="10096500" cy="847725"/>
          </a:xfrm>
          <a:prstGeom prst="roundRect">
            <a:avLst>
              <a:gd name="adj" fmla="val 11236"/>
            </a:avLst>
          </a:prstGeom>
          <a:solidFill>
            <a:srgbClr val="EDF3FB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333500" y="6019800"/>
            <a:ext cx="7048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8FB3DE"/>
                </a:solidFill>
                <a:latin typeface="Times New Roman"/>
                <a:ea typeface="Times New Roman"/>
              </a:rPr>
              <a:t>05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2286000" y="6038850"/>
            <a:ext cx="9525" cy="400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2543175" y="5981700"/>
            <a:ext cx="2228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 spc="75">
                <a:solidFill>
                  <a:srgbClr val="0E3F8C"/>
                </a:solidFill>
                <a:latin typeface="Microsoft YaHei"/>
                <a:ea typeface="Microsoft YaHei"/>
              </a:rPr>
              <a:t>创新价值与应用展望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2543175" y="63246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五个创新点、三方价值与推广前景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94" name="" descr="&lt;Slide style={{ width: 1280, height: 720, background: '#0E3F8C', position: 'relative', padding: 0 }}&gt;&#10;    {/* 背景几何装饰 */}&#10;    &lt;Box style={{ position: 'absolute', top: -80, right: -60, width: 460, height: 460, background: '#164C9E', borderRadius: 230 }} /&gt;&#10;    &lt;Box style={{ position: 'absolute', bottom: -120, right: 180, width: 320, height: 320, background: '#143F82', borderRadius: 160 }} /&gt;&#10;&#10;    {/* 内容 */}&#10;    &lt;Box style={{ position: 'relative', paddingTop: 240, paddingLeft: 120, flexDirection: 'column' }}&gt;&#10;&#10;        {/* 大数字 */}&#10;        &lt;Text style={{ fontSize: 190, fontWeight: 'bold', color: '#2E6FC7', fontFamily: 'Times New Roman', lineHeight: 1, letterSpacing: 4 }}&gt;&#10;            01&#10;        &lt;/Text&gt;&#10;&#10;        {/* 分隔线 */}&#10;        &lt;Box style={{ width: 96, height: 5, background: '#FFFFFF', marginTop: 34, marginBottom: 30, borderRadius: 3 }} /&gt;&#10;&#10;        {/* 章节名 */}&#10;        &lt;Text style={{ fontSize: 52, fontWeight: 'bold', color: '#FFFFFF', letterSpacing: 6 }}&gt;&#10;            创作背景与需求分析&#10;        &lt;/Text&gt;&#10;&#10;        {/* 英文副标 */}&#10;        &lt;Text style={{ fontSize: 20, color: '#9FC0E8', letterSpacing: 2, marginTop: 22, fontFamily: 'Times New Roman' }}&gt;&#10;            Background &amp; Requirement Analysis&#10;        &lt;/Text&gt;&#10;&#10;        {/* 导语 */}&#10;        &lt;Text style={{ fontSize: 19, color: '#C5D8F0', marginTop: 34, letterSpacing: 1 }}&gt;&#10;            从山区的真实困境出发，找到真正值得被解决的问题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8382000" y="-762000"/>
            <a:ext cx="4381500" cy="4381500"/>
          </a:xfrm>
          <a:prstGeom prst="roundRect">
            <a:avLst>
              <a:gd name="adj" fmla="val 50000"/>
            </a:avLst>
          </a:prstGeom>
          <a:solidFill>
            <a:srgbClr val="164C9E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7429500" y="49530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143F82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43000" y="2286000"/>
            <a:ext cx="1104900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 spc="300">
                <a:solidFill>
                  <a:srgbClr val="2E6FC7"/>
                </a:solidFill>
                <a:latin typeface="Times New Roman"/>
                <a:ea typeface="Times New Roman"/>
              </a:rPr>
              <a:t>01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1143000" y="4781550"/>
            <a:ext cx="914400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43000" y="5114925"/>
            <a:ext cx="11049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450">
                <a:solidFill>
                  <a:srgbClr val="FFFFFF"/>
                </a:solidFill>
                <a:latin typeface="Microsoft YaHei"/>
                <a:ea typeface="Microsoft YaHei"/>
              </a:rPr>
              <a:t>创作背景与需求分析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43000" y="59245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FC0E8"/>
                </a:solidFill>
                <a:latin typeface="Times New Roman"/>
                <a:ea typeface="Times New Roman"/>
              </a:rPr>
              <a:t>Background &amp; Requirement Analysis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43000" y="6477000"/>
            <a:ext cx="1104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75">
                <a:solidFill>
                  <a:srgbClr val="C5D8F0"/>
                </a:solidFill>
                <a:latin typeface="Microsoft YaHei"/>
                <a:ea typeface="Microsoft YaHei"/>
              </a:rPr>
              <a:t>从山区的真实困境出发，找到真正值得被解决的问题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6, paddingLeft: 96, paddingRight: 96, flexDirection: 'column' }}&gt;&#10;&#10;        {/* 页眉 */}&#10;        &lt;Box style={{ flexDirection: 'row', alignItems: 'center', gap: 16, marginBottom: 34 }}&gt;&#10;            &lt;Box style={{ width: 6, height: 34, background: '#1E4FA8', borderRadius: 3 }} /&gt;&#10;            &lt;Text style={{ fontSize: 34, fontWeight: 'bold', color: '#0E3F8C', letterSpacing: 2 }}&gt;真实痛点：好货出不去，风景讲不出&lt;/Text&gt;&#10;        &lt;/Box&gt;&#10;&#10;        {/* 双栏对照 */}&#10;        &lt;Box style={{ flexDirection: 'row', gap: 32 }}&gt;&#10;&#10;            {/* 痛点 A */}&#10;            &lt;Box style={{ width: 528, background: '#F7F9FC', borderRadius: 12, paddingLeft: 32, paddingRight: 32, paddingTop: 28, paddingBottom: 28, flexDirection: 'column' }}&gt;&#10;                &lt;Box style={{ flexDirection: 'row', alignItems: 'center', gap: 12, marginBottom: 18 }}&gt;&#10;                    &lt;Box style={{ width: 34, height: 34, background: '#1E4FA8', borderRadius: 8, alignItems: 'center', justifyContent: 'center' }}&gt;&#10;                        &lt;Text style={{ fontSize: 17, color: '#FFFFFF', fontWeight: 'bold' }}&gt;A&lt;/Text&gt;&#10;                    &lt;/Box&gt;&#10;                    &lt;Text style={{ fontSize: 24, fontWeight: 'bold', color: '#1A2230' }}&gt;农产品营销能力缺失&lt;/Text&gt;&#10;                &lt;/Box&gt;&#10;&#10;                &lt;Box style={{ width: 60, height: 3, background: '#1E4FA8', marginBottom: 20 }} /&gt;&#10;&#10;                &lt;Box style={{ flexDirection: 'column', gap: 14 }}&gt;&#10;                    &lt;Box style={{ flexDirection: 'row', gap: 10 }}&gt;&#10;                        &lt;Text style={{ fontSize: 16, color: '#1E4FA8', fontWeight: 'bold' }}&gt;·&lt;/Text&gt;&#10;                        &lt;Text style={{ fontSize: 17, color: '#3A4658', lineHeight: 1.6 }}&gt;农户普遍不具备拍摄、文案、美工能力&lt;/Text&gt;&#10;                    &lt;/Box&gt;&#10;                    &lt;Box style={{ flexDirection: 'row', gap: 10 }}&gt;&#10;                        &lt;Text style={{ fontSize: 16, color: '#1E4FA8', fontWeight: 'bold' }}&gt;·&lt;/Text&gt;&#10;                        &lt;Text style={{ fontSize: 17, color: '#3A4658', lineHeight: 1.6 }}&gt;优质山货&quot;有实无名&quot;，缺包装、缺传播素材&lt;/Text&gt;&#10;                    &lt;/Box&gt;&#10;                    &lt;Box style={{ flexDirection: 'row', gap: 10 }}&gt;&#10;                        &lt;Text style={{ fontSize: 16, color: '#1E4FA8', fontWeight: 'bold' }}&gt;·&lt;/Text&gt;&#10;                        &lt;Text style={{ fontSize: 17, color: '#3A4658', lineHeight: 1.6 }}&gt;雇专业团队成本高，单次拍摄动辄数千元&lt;/Text&gt;&#10;                    &lt;/Box&gt;&#10;                &lt;/Box&gt;&#10;&#10;                &lt;Box style={{ background: '#E8F0FB', borderRadius: 8, paddingLeft: 18, paddingRight: 18, paddingTop: 14, paddingBottom: 14, marginTop: 22 }}&gt;&#10;                    &lt;Text style={{ fontSize: 17, color: '#0E3F8C', fontWeight: 600 }}&gt;好货没有好包装，卖不上好价钱&lt;/Text&gt;&#10;                &lt;/Box&gt;&#10;            &lt;/Box&gt;&#10;&#10;            {/* 痛点 B */}&#10;            &lt;Box style={{ width: 528, background: '#FDF8F7', borderRadius: 12, paddingLeft: 32, paddingRight: 32, paddingTop: 28, paddingBottom: 28, flexDirection: 'column' }}&gt;&#10;                &lt;Box style={{ flexDirection: 'row', alignItems: 'center', gap: 12, marginBottom: 18 }}&gt;&#10;                    &lt;Box style={{ width: 34, height: 34, background: '#D9534F', borderRadius: 8, alignItems: 'center', justifyContent: 'center' }}&gt;&#10;                        &lt;Text style={{ fontSize: 17, color: '#FFFFFF', fontWeight: 'bold' }}&gt;B&lt;/Text&gt;&#10;                    &lt;/Box&gt;&#10;                    &lt;Text style={{ fontSize: 24, fontWeight: 'bold', color: '#1A2230' }}&gt;乡村文旅讲解人才稀缺&lt;/Text&gt;&#10;                &lt;/Box&gt;&#10;&#10;                &lt;Box style={{ width: 60, height: 3, background: '#D9534F', marginBottom: 20 }} /&gt;&#10;&#10;                &lt;Box style={{ flexDirection: 'column', gap: 14 }}&gt;&#10;                    &lt;Box style={{ flexDirection: 'row', gap: 10 }}&gt;&#10;                        &lt;Text style={{ fontSize: 16, color: '#D9534F', fontWeight: 'bold' }}&gt;·&lt;/Text&gt;&#10;                        &lt;Text style={{ fontSize: 17, color: '#3A4658', lineHeight: 1.6 }}&gt;村落旅游讲不出文化故事，游客&quot;走马观花&quot;&lt;/Text&gt;&#10;                    &lt;/Box&gt;&#10;                    &lt;Box style={{ flexDirection: 'row', gap: 10 }}&gt;&#10;                        &lt;Text style={{ fontSize: 16, color: '#D9534F', fontWeight: 'bold' }}&gt;·&lt;/Text&gt;&#10;                        &lt;Text style={{ fontSize: 17, color: '#3A4658', lineHeight: 1.6 }}&gt;专业讲解员培养周期长、留不住、覆盖难&lt;/Text&gt;&#10;                    &lt;/Box&gt;&#10;                    &lt;Box style={{ flexDirection: 'row', gap: 10 }}&gt;&#10;                        &lt;Text style={{ fontSize: 16, color: '#D9534F', fontWeight: 'bold' }}&gt;·&lt;/Text&gt;&#10;                        &lt;Text style={{ fontSize: 17, color: '#3A4658', lineHeight: 1.6 }}&gt;解说内容同质化，缺少个性化、可持续供给&lt;/Text&gt;&#10;                    &lt;/Box&gt;&#10;                &lt;/Box&gt;&#10;&#10;                &lt;Box style={{ background: '#FBECEB', borderRadius: 8, paddingLeft: 18, paddingRight: 18, paddingTop: 14, paddingBottom: 14, marginTop: 22 }}&gt;&#10;                    &lt;Text style={{ fontSize: 17, color: '#B3413D', fontWeight: 600 }}&gt;看得到风景，听不到故事&lt;/Text&gt;&#10;                &lt;/Box&gt;&#10;            &lt;/Box&gt;&#10;&#10;        &lt;/Box&gt;&#10;&#10;        {/* 底部小结 */}&#10;        &lt;Box style={{ flexDirection: 'row', alignItems: 'center', gap: 12, marginTop: 30, justifyContent: 'center' }}&gt;&#10;            &lt;Box style={{ width: 28, height: 1, background: '#C8D3E2' }} /&gt;&#10;            &lt;Text style={{ fontSize: 18, color: '#6B7A90', letterSpacing: 1 }}&gt;&#10;                两个痛点，同一个根源：&lt;Text style={{ fontSize: 18, color: '#0E3F8C', fontWeight: 'bold' }}&gt;内容生产能力不足&lt;/Text&gt;&#10;            &lt;/Text&gt;&#10;            &lt;Box style={{ width: 28, height: 1, background: '#C8D3E2' }} /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914400" y="666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23950" y="628650"/>
            <a:ext cx="5486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0E3F8C"/>
                </a:solidFill>
                <a:latin typeface="Microsoft YaHei"/>
                <a:ea typeface="Microsoft YaHei"/>
              </a:rPr>
              <a:t>真实痛点：好货出不去，风景讲不出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914400" y="1343025"/>
            <a:ext cx="5029200" cy="3133725"/>
          </a:xfrm>
          <a:prstGeom prst="roundRect">
            <a:avLst>
              <a:gd name="adj" fmla="val 364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1219200" y="16097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323975" y="1676400"/>
            <a:ext cx="12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657350" y="1638300"/>
            <a:ext cx="205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农产品营销能力缺失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1219200" y="2105025"/>
            <a:ext cx="5715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219200" y="2324100"/>
            <a:ext cx="76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390650" y="2324100"/>
            <a:ext cx="27527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农户普遍不具备拍摄、文案、美工能力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219200" y="2771775"/>
            <a:ext cx="76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390650" y="2771775"/>
            <a:ext cx="30575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优质山货</a:t>
            </a:r>
            <a:r>
              <a:rPr lang="en-US" sz="1275">
                <a:solidFill>
                  <a:srgbClr val="3A465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有实无名</a:t>
            </a:r>
            <a:r>
              <a:rPr lang="en-US" sz="1275">
                <a:solidFill>
                  <a:srgbClr val="3A465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，缺包装、缺传播素材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219200" y="3219450"/>
            <a:ext cx="76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390650" y="3219450"/>
            <a:ext cx="29146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雇专业团队成本高，单次拍摄动辄数千元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1219200" y="3743325"/>
            <a:ext cx="4419600" cy="466725"/>
          </a:xfrm>
          <a:prstGeom prst="roundRect">
            <a:avLst>
              <a:gd name="adj" fmla="val 16327"/>
            </a:avLst>
          </a:prstGeom>
          <a:solidFill>
            <a:srgbClr val="E8F0FB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390650" y="387667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好货没有好包装，卖不上好价钱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248400" y="1343025"/>
            <a:ext cx="5029200" cy="3133725"/>
          </a:xfrm>
          <a:prstGeom prst="roundRect">
            <a:avLst>
              <a:gd name="adj" fmla="val 3647"/>
            </a:avLst>
          </a:prstGeom>
          <a:solidFill>
            <a:srgbClr val="FDF8F7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553200" y="16097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657975" y="1676400"/>
            <a:ext cx="11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991350" y="16383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乡村文旅讲解人才稀缺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553200" y="2105025"/>
            <a:ext cx="571500" cy="28575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553200" y="2324100"/>
            <a:ext cx="76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724650" y="2324100"/>
            <a:ext cx="30575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村落旅游讲不出文化故事，游客</a:t>
            </a:r>
            <a:r>
              <a:rPr lang="en-US" sz="1275">
                <a:solidFill>
                  <a:srgbClr val="3A465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走马观花</a:t>
            </a:r>
            <a:r>
              <a:rPr lang="en-US" sz="1275">
                <a:solidFill>
                  <a:srgbClr val="3A465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553200" y="2771775"/>
            <a:ext cx="76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724650" y="2771775"/>
            <a:ext cx="29146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专业讲解员培养周期长、留不住、覆盖难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553200" y="3219450"/>
            <a:ext cx="76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724650" y="3219450"/>
            <a:ext cx="30765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解说内容同质化，缺少个性化、可持续供给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553200" y="3743325"/>
            <a:ext cx="4419600" cy="466725"/>
          </a:xfrm>
          <a:prstGeom prst="roundRect">
            <a:avLst>
              <a:gd name="adj" fmla="val 16327"/>
            </a:avLst>
          </a:prstGeom>
          <a:solidFill>
            <a:srgbClr val="FBECE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724650" y="387667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3413D"/>
                </a:solidFill>
                <a:latin typeface="Microsoft YaHei"/>
                <a:ea typeface="Microsoft YaHei"/>
              </a:rPr>
              <a:t>看得到风景，听不到故事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4000500" y="4867275"/>
            <a:ext cx="266700" cy="9525"/>
          </a:xfrm>
          <a:prstGeom prst="rect">
            <a:avLst/>
          </a:prstGeom>
          <a:solidFill>
            <a:srgbClr val="C8D3E2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381500" y="4762500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6B7A90"/>
                </a:solidFill>
                <a:latin typeface="Microsoft YaHei"/>
                <a:ea typeface="Microsoft YaHei"/>
              </a:rPr>
              <a:t>两个痛点，同一个根源：</a:t>
            </a:r>
            <a:r>
              <a:rPr lang="zh-CN" sz="1350" spc="75">
                <a:solidFill>
                  <a:srgbClr val="6B7A90"/>
                </a:solidFill>
                <a:latin typeface="Microsoft YaHei"/>
                <a:ea typeface="Microsoft YaHei"/>
              </a:rPr>
              <a:t>内容生产能力不足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7934325" y="4867275"/>
            <a:ext cx="266700" cy="9525"/>
          </a:xfrm>
          <a:prstGeom prst="rect">
            <a:avLst/>
          </a:prstGeom>
          <a:solidFill>
            <a:srgbClr val="C8D3E2"/>
          </a:solidFill>
          <a:ln/>
        </p:spPr>
        <p:txBody>
          <a:bodyPr/>
          <a:p/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38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6, paddingLeft: 96, paddingRight: 96, flexDirection: 'column' }}&gt;&#10;&#10;        {/* 页眉 */}&#10;        &lt;Box style={{ flexDirection: 'row', alignItems: 'center', gap: 16, marginBottom: 30 }}&gt;&#10;            &lt;Box style={{ width: 6, height: 34, background: '#1E4FA8', borderRadius: 3 }} /&gt;&#10;            &lt;Text style={{ fontSize: 34, fontWeight: 'bold', color: '#0E3F8C', letterSpacing: 2 }}&gt;需求提炼：把复杂问题收敛成两个目标&lt;/Text&gt;&#10;        &lt;/Box&gt;&#10;&#10;        {/* 两个需求卡 */}&#10;        &lt;Box style={{ flexDirection: 'row', gap: 28 }}&gt;&#10;&#10;            &lt;Box style={{ width: 530, background: '#F5F8FD', borderRadius: 12, paddingTop: 26, paddingBottom: 26, paddingLeft: 30, paddingRight: 30, flexDirection: 'column' }}&gt;&#10;                &lt;Text style={{ fontSize: 14, color: '#8B97A8', letterSpacing: 2, marginBottom: 10 }}&gt;需 求 一&lt;/Text&gt;&#10;                &lt;Text style={{ fontSize: 27, fontWeight: 'bold', color: '#0E3F8C', marginBottom: 16 }}&gt;低门槛内容生产&lt;/Text&gt;&#10;                &lt;Text style={{ fontSize: 17, color: '#3A4658', lineHeight: 1.7 }}&gt;&#10;                    让农户用一部手机、一张照片，就能产出可发布的营销素材，无需任何专业设备与技能。&#10;                &lt;/Text&gt;&#10;            &lt;/Box&gt;&#10;&#10;            &lt;Box style={{ width: 530, background: '#F5F8FD', borderRadius: 12, paddingTop: 26, paddingBottom: 26, paddingLeft: 30, paddingRight: 30, flexDirection: 'column' }}&gt;&#10;                &lt;Text style={{ fontSize: 14, color: '#8B97A8', letterSpacing: 2, marginBottom: 10 }}&gt;需 求 二&lt;/Text&gt;&#10;                &lt;Text style={{ fontSize: 27, fontWeight: 'bold', color: '#0E3F8C', marginBottom: 16 }}&gt;可复制文旅讲解&lt;/Text&gt;&#10;                &lt;Text style={{ fontSize: 17, color: '#3A4658', lineHeight: 1.7 }}&gt;&#10;                    为每个村落生成专属数字讲解员，让文化故事随扫随听，一次建设、长期复用。&#10;                &lt;/Text&gt;&#10;            &lt;/Box&gt;&#10;&#10;        &lt;/Box&gt;&#10;&#10;        {/* 核心指标三联数 */}&#10;        &lt;Box style={{ flexDirection: 'row', alignItems: 'flex-end', justifyContent: 'center', gap: 0, marginTop: 44 }}&gt;&#10;&#10;            &lt;Box style={{ width: 300, flexDirection: 'column', alignItems: 'center' }}&gt;&#10;                &lt;Text style={{ fontSize: 74, fontWeight: 'bold', color: '#0E3F8C', fontFamily: 'Times New Roman', lineHeight: 1 }}&gt;30&lt;/Text&gt;&#10;                &lt;Text style={{ fontSize: 19, color: '#1A2230', fontWeight: 'bold', marginTop: 12 }}&gt;秒&lt;/Text&gt;&#10;                &lt;Text style={{ fontSize: 15, color: '#8B97A8', marginTop: 6 }}&gt;单件素材生成耗时&lt;/Text&gt;&#10;            &lt;/Box&gt;&#10;&#10;            &lt;Box style={{ width: 1, height: 88, background: '#D6DCE5' }} /&gt;&#10;&#10;            &lt;Box style={{ width: 300, flexDirection: 'column', alignItems: 'center' }}&gt;&#10;                &lt;Text style={{ fontSize: 74, fontWeight: 'bold', color: '#1E4FA8', fontFamily: 'Times New Roman', lineHeight: 1 }}&gt;5&lt;/Text&gt;&#10;                &lt;Text style={{ fontSize: 19, color: '#1A2230', fontWeight: 'bold', marginTop: 12 }}&gt;件套&lt;/Text&gt;&#10;                &lt;Text style={{ fontSize: 15, color: '#8B97A8', marginTop: 6 }}&gt;一次生成全部交付物&lt;/Text&gt;&#10;            &lt;/Box&gt;&#10;&#10;            &lt;Box style={{ width: 1, height: 88, background: '#D6DCE5' }} /&gt;&#10;&#10;            &lt;Box style={{ width: 300, flexDirection: 'column', alignItems: 'center' }}&gt;&#10;                &lt;Text style={{ fontSize: 74, fontWeight: 'bold', color: '#D9534F', fontFamily: 'Times New Roman', lineHeight: 1 }}&gt;29&lt;/Text&gt;&#10;                &lt;Text style={{ fontSize: 19, color: '#1A2230', fontWeight: 'bold', marginTop: 12 }}&gt;个村落&lt;/Text&gt;&#10;                &lt;Text style={{ fontSize: 15, color: '#8B97A8', marginTop: 6 }}&gt;可覆盖的文旅讲解点位&lt;/Text&gt;&#10;            &lt;/Box&gt;&#10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914400" y="666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23950" y="628650"/>
            <a:ext cx="5829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150">
                <a:solidFill>
                  <a:srgbClr val="0E3F8C"/>
                </a:solidFill>
                <a:latin typeface="Microsoft YaHei"/>
                <a:ea typeface="Microsoft YaHei"/>
              </a:rPr>
              <a:t>需求提炼：把复杂问题收敛成两个目标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14400" y="1304925"/>
            <a:ext cx="5048250" cy="188595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200150" y="1552575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97A8"/>
                </a:solidFill>
                <a:latin typeface="Microsoft YaHei"/>
                <a:ea typeface="Microsoft YaHei"/>
              </a:rPr>
              <a:t>需</a:t>
            </a:r>
            <a:r>
              <a:rPr lang="en-US" sz="1050" spc="150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150">
                <a:solidFill>
                  <a:srgbClr val="8B97A8"/>
                </a:solidFill>
                <a:latin typeface="Microsoft YaHei"/>
                <a:ea typeface="Microsoft YaHei"/>
              </a:rPr>
              <a:t>求</a:t>
            </a:r>
            <a:r>
              <a:rPr lang="en-US" sz="1050" spc="150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150">
                <a:solidFill>
                  <a:srgbClr val="8B97A8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200150" y="1809750"/>
            <a:ext cx="44767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低门槛内容生产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200150" y="2276475"/>
            <a:ext cx="4476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让农户用一部手机、一张照片，就能产出可发布的营销素材，无需任何专业设备与技能。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229350" y="1304925"/>
            <a:ext cx="5048250" cy="188595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515100" y="1552575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97A8"/>
                </a:solidFill>
                <a:latin typeface="Microsoft YaHei"/>
                <a:ea typeface="Microsoft YaHei"/>
              </a:rPr>
              <a:t>需</a:t>
            </a:r>
            <a:r>
              <a:rPr lang="en-US" sz="1050" spc="150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150">
                <a:solidFill>
                  <a:srgbClr val="8B97A8"/>
                </a:solidFill>
                <a:latin typeface="Microsoft YaHei"/>
                <a:ea typeface="Microsoft YaHei"/>
              </a:rPr>
              <a:t>求</a:t>
            </a:r>
            <a:r>
              <a:rPr lang="en-US" sz="1050" spc="150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150">
                <a:solidFill>
                  <a:srgbClr val="8B97A8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515100" y="1809750"/>
            <a:ext cx="44767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可复制文旅讲解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515100" y="2276475"/>
            <a:ext cx="4476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3A4658"/>
                </a:solidFill>
                <a:latin typeface="Microsoft YaHei"/>
                <a:ea typeface="Microsoft YaHei"/>
              </a:rPr>
              <a:t>为每个村落生成专属数字讲解员，让文化故事随扫随听，一次建设、长期复用。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2876550" y="3609975"/>
            <a:ext cx="70485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550" b="1">
                <a:solidFill>
                  <a:srgbClr val="0E3F8C"/>
                </a:solidFill>
                <a:latin typeface="Times New Roman"/>
                <a:ea typeface="Times New Roman"/>
              </a:rPr>
              <a:t>30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143250" y="457200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2657475" y="48482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单件素材生成耗时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657725" y="4181475"/>
            <a:ext cx="9525" cy="8382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924550" y="3609975"/>
            <a:ext cx="352425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550" b="1">
                <a:solidFill>
                  <a:srgbClr val="1E4FA8"/>
                </a:solidFill>
                <a:latin typeface="Times New Roman"/>
                <a:ea typeface="Times New Roman"/>
              </a:rPr>
              <a:t>5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915025" y="4572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件套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457825" y="48482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一次生成全部交付物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7524750" y="4181475"/>
            <a:ext cx="9525" cy="8382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610600" y="3609975"/>
            <a:ext cx="70485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550" b="1">
                <a:solidFill>
                  <a:srgbClr val="D9534F"/>
                </a:solidFill>
                <a:latin typeface="Times New Roman"/>
                <a:ea typeface="Times New Roman"/>
              </a:rPr>
              <a:t>29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696325" y="457200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个村落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248650" y="48482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可覆盖的文旅讲解点位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63" name="" descr="&lt;Slide style={{ width: 1280, height: 720, background: '#0E3F8C', position: 'relative', padding: 0 }}&gt;&#10;    &lt;Box style={{ position: 'absolute', top: -80, right: -60, width: 460, height: 460, background: '#164C9E', borderRadius: 230 }} /&gt;&#10;    &lt;Box style={{ position: 'absolute', bottom: -120, right: 180, width: 320, height: 320, background: '#143F82', borderRadius: 160 }} /&gt;&#10;&#10;    &lt;Box style={{ position: 'relative', paddingTop: 240, paddingLeft: 120, flexDirection: 'column' }}&gt;&#10;        &lt;Text style={{ fontSize: 190, fontWeight: 'bold', color: '#2E6FC7', fontFamily: 'Times New Roman', lineHeight: 1, letterSpacing: 4 }}&gt;&#10;            02&#10;        &lt;/Text&gt;&#10;        &lt;Box style={{ width: 96, height: 5, background: '#FFFFFF', marginTop: 34, marginBottom: 30, borderRadius: 3 }} /&gt;&#10;        &lt;Text style={{ fontSize: 52, fontWeight: 'bold', color: '#FFFFFF', letterSpacing: 6 }}&gt;&#10;            作品方案设计&#10;        &lt;/Text&gt;&#10;        &lt;Text style={{ fontSize: 20, color: '#9FC0E8', letterSpacing: 2, marginTop: 22, fontFamily: 'Times New Roman' }}&gt;&#10;            System Architecture &amp; Solution Design&#10;        &lt;/Text&gt;&#10;        &lt;Text style={{ fontSize: 19, color: '#C5D8F0', marginTop: 34, letterSpacing: 1 }}&gt;&#10;            双端产品形态 + 多厂商模型网关，把 AI 能力装进农户口袋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8382000" y="-762000"/>
            <a:ext cx="4381500" cy="4381500"/>
          </a:xfrm>
          <a:prstGeom prst="roundRect">
            <a:avLst>
              <a:gd name="adj" fmla="val 50000"/>
            </a:avLst>
          </a:prstGeom>
          <a:solidFill>
            <a:srgbClr val="164C9E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7429500" y="49530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143F82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43000" y="2286000"/>
            <a:ext cx="1104900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 spc="300">
                <a:solidFill>
                  <a:srgbClr val="2E6FC7"/>
                </a:solidFill>
                <a:latin typeface="Times New Roman"/>
                <a:ea typeface="Times New Roman"/>
              </a:rPr>
              <a:t>02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1143000" y="4781550"/>
            <a:ext cx="914400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43000" y="5114925"/>
            <a:ext cx="11049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450">
                <a:solidFill>
                  <a:srgbClr val="FFFFFF"/>
                </a:solidFill>
                <a:latin typeface="Microsoft YaHei"/>
                <a:ea typeface="Microsoft YaHei"/>
              </a:rPr>
              <a:t>作品方案设计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43000" y="59245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FC0E8"/>
                </a:solidFill>
                <a:latin typeface="Times New Roman"/>
                <a:ea typeface="Times New Roman"/>
              </a:rPr>
              <a:t>System Architecture &amp; Solution Design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43000" y="6477000"/>
            <a:ext cx="1104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75">
                <a:solidFill>
                  <a:srgbClr val="C5D8F0"/>
                </a:solidFill>
                <a:latin typeface="Microsoft YaHei"/>
                <a:ea typeface="Microsoft YaHei"/>
              </a:rPr>
              <a:t>双端产品形态</a:t>
            </a:r>
            <a:r>
              <a:rPr lang="en-US" sz="1425" spc="75">
                <a:solidFill>
                  <a:srgbClr val="C5D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spc="75">
                <a:solidFill>
                  <a:srgbClr val="C5D8F0"/>
                </a:solidFill>
                <a:latin typeface="Microsoft YaHei"/>
                <a:ea typeface="Microsoft YaHei"/>
              </a:rPr>
              <a:t>多厂商模型网关，把</a:t>
            </a:r>
            <a:r>
              <a:rPr lang="en-US" sz="1425" spc="75">
                <a:solidFill>
                  <a:srgbClr val="C5D8F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spc="75">
                <a:solidFill>
                  <a:srgbClr val="C5D8F0"/>
                </a:solidFill>
                <a:latin typeface="Microsoft YaHei"/>
                <a:ea typeface="Microsoft YaHei"/>
              </a:rPr>
              <a:t>能力装进农户口袋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72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58, paddingLeft: 96, paddingRight: 96, flexDirection: 'column' }}&gt;&#10;&#10;        {/* 页眉 */}&#10;        &lt;Box style={{ flexDirection: 'row', alignItems: 'center', gap: 16, marginBottom: 26 }}&gt;&#10;            &lt;Box style={{ width: 6, height: 32, background: '#1E4FA8', borderRadius: 3 }} /&gt;&#10;            &lt;Text style={{ fontSize: 32, fontWeight: 'bold', color: '#0E3F8C', letterSpacing: 2 }}&gt;总体架构：四层解耦，双端触达&lt;/Text&gt;&#10;        &lt;/Box&gt;&#10;&#10;        {/* 第 1 层：接入层 */}&#10;        &lt;Box style={{ flexDirection: 'row', alignItems: 'center', gap: 20, marginBottom: 14 }}&gt;&#10;            &lt;Box style={{ width: 128, flexDirection: 'column', alignItems: 'center', justifyContent: 'center' }}&gt;&#10;                &lt;Text style={{ fontSize: 13, color: '#8B97A8', letterSpacing: 1 }}&gt;接 入 层&lt;/Text&gt;&#10;            &lt;/Box&gt;&#10;            &lt;Box style={{ flexDirection: 'row', gap: 16 }}&gt;&#10;                &lt;Box style={{ width: 300, background: '#EAF1FB', borderRadius: 8, paddingTop: 14, paddingBottom: 14, alignItems: 'center' }}&gt;&#10;                    &lt;Text style={{ fontSize: 19, fontWeight: 'bold', color: '#0E3F8C' }}&gt;微信小程序端&lt;/Text&gt;&#10;                    &lt;Text style={{ fontSize: 13, color: '#6B7A90', marginTop: 4 }}&gt;原生开发 · 随拍随用&lt;/Text&gt;&#10;                &lt;/Box&gt;&#10;                &lt;Box style={{ width: 300, background: '#EAF1FB', borderRadius: 8, paddingTop: 14, paddingBottom: 14, alignItems: 'center' }}&gt;&#10;                    &lt;Text style={{ fontSize: 19, fontWeight: 'bold', color: '#0E3F8C' }}&gt;H5 网页端&lt;/Text&gt;&#10;                    &lt;Text style={{ fontSize: 13, color: '#6B7A90', marginTop: 4 }}&gt;Vue3 + Vite · 免安装&lt;/Text&gt;&#10;                &lt;/Box&gt;&#10;            &lt;/Box&gt;&#10;        &lt;/Box&gt;&#10;&#10;        {/* 箭头 */}&#10;        &lt;Box style={{ flexDirection: 'row', paddingLeft: 168, marginBottom: 8 }}&gt;&#10;            &lt;Text style={{ fontSize: 18, color: '#B9CDE9', letterSpacing: 40 }}&gt;▼&lt;/Text&gt;&#10;        &lt;/Box&gt;&#10;&#10;        {/* 第 2 层：服务层 */}&#10;        &lt;Box style={{ flexDirection: 'row', alignItems: 'center', gap: 20, marginBottom: 14 }}&gt;&#10;            &lt;Box style={{ width: 128, flexDirection: 'column', alignItems: 'center', justifyContent: 'center' }}&gt;&#10;                &lt;Text style={{ fontSize: 13, color: '#8B97A8', letterSpacing: 1 }}&gt;服 务 层&lt;/Text&gt;&#10;            &lt;/Box&gt;&#10;            &lt;Box style={{ width: 616, background: '#1E4FA8', borderRadius: 8, paddingTop: 16, paddingBottom: 16, alignItems: 'center' }}&gt;&#10;                &lt;Text style={{ fontSize: 20, fontWeight: 'bold', color: '#FFFFFF' }}&gt;FastAPI 后端服务&lt;/Text&gt;&#10;                &lt;Text style={{ fontSize: 13, color: '#B9CDE9', marginTop: 5 }}&gt;业务编排 · 异步并发 · 五件套流水线&lt;/Text&gt;&#10;            &lt;/Box&gt;&#10;        &lt;/Box&gt;&#10;&#10;        {/* 箭头 */}&#10;        &lt;Box style={{ flexDirection: 'row', paddingLeft: 168, marginBottom: 8 }}&gt;&#10;            &lt;Text style={{ fontSize: 18, color: '#B9CDE9', letterSpacing: 40 }}&gt;▼&lt;/Text&gt;&#10;        &lt;/Box&gt;&#10;&#10;        {/* 第 3 层：能力层 */}&#10;        &lt;Box style={{ flexDirection: 'row', alignItems: 'center', gap: 20, marginBottom: 14 }}&gt;&#10;            &lt;Box style={{ width: 128, flexDirection: 'column', alignItems: 'center', justifyContent: 'center' }}&gt;&#10;                &lt;Text style={{ fontSize: 13, color: '#8B97A8', letterSpacing: 1 }}&gt;能 力 层&lt;/Text&gt;&#10;            &lt;/Box&gt;&#10;            &lt;Box style={{ flexDirection: 'row', gap: 14 }}&gt;&#10;                &lt;Box style={{ width: 196, background: '#F5F8FD', borderRadius: 8, paddingTop: 12, paddingBottom: 12, alignItems: 'center' }}&gt;&#10;                    &lt;Text style={{ fontSize: 16, fontWeight: 'bold', color: '#1A2230' }}&gt;统一模型网关&lt;/Text&gt;&#10;                    &lt;Text style={{ fontSize: 12, color: '#8B97A8', marginTop: 4 }}&gt;OpenAI 兼容协议&lt;/Text&gt;&#10;                &lt;/Box&gt;&#10;                &lt;Box style={{ width: 196, background: '#F5F8FD', borderRadius: 8, paddingTop: 12, paddingBottom: 12, alignItems: 'center' }}&gt;&#10;                    &lt;Text style={{ fontSize: 16, fontWeight: 'bold', color: '#1A2230' }}&gt;图像合成引擎&lt;/Text&gt;&#10;                    &lt;Text style={{ fontSize: 12, color: '#8B97A8', marginTop: 4 }}&gt;Pillow 精确排版&lt;/Text&gt;&#10;                &lt;/Box&gt;&#10;                &lt;Box style={{ width: 196, background: '#F5F8FD', borderRadius: 8, paddingTop: 12, paddingBottom: 12, alignItems: 'center' }}&gt;&#10;                    &lt;Text style={{ fontSize: 16, fontWeight: 'bold', color: '#1A2230' }}&gt;语音合成引擎&lt;/Text&gt;&#10;                    &lt;Text style={{ fontSize: 12, color: '#8B97A8', marginTop: 4 }}&gt;Edge-TTS&lt;/Text&gt;&#10;                &lt;/Box&gt;&#10;            &lt;/Box&gt;&#10;        &lt;/Box&gt;&#10;&#10;        {/* 箭头 */}&#10;        &lt;Box style={{ flexDirection: 'row', paddingLeft: 168, marginBottom: 8 }}&gt;&#10;            &lt;Text style={{ fontSize: 18, color: '#B9CDE9', letterSpacing: 40 }}&gt;▼&lt;/Text&gt;&#10;        &lt;/Box&gt;&#10;&#10;        {/* 第 4 层：模型层 */}&#10;        &lt;Box style={{ flexDirection: 'row', alignItems: 'center', gap: 20 }}&gt;&#10;            &lt;Box style={{ width: 128, flexDirection: 'column', alignItems: 'center', justifyContent: 'center' }}&gt;&#10;                &lt;Text style={{ fontSize: 13, color: '#8B97A8', letterSpacing: 1 }}&gt;模 型 层&lt;/Text&gt;&#10;            &lt;/Box&gt;&#10;            &lt;Box style={{ flexDirection: 'row', gap: 12 }}&gt;&#10;                &lt;Box style={{ background: '#FBECEB', borderRadius: 20, paddingLeft: 20, paddingRight: 20, paddingTop: 9, paddingBottom: 9 }}&gt;&#10;                    &lt;Text style={{ fontSize: 15, color: '#B3413D', fontWeight: 600 }}&gt;智谱 GLM&lt;/Text&gt;&#10;                &lt;/Box&gt;&#10;                &lt;Box style={{ background: '#EAF1FB', borderRadius: 20, paddingLeft: 20, paddingRight: 20, paddingTop: 9, paddingBottom: 9 }}&gt;&#10;                    &lt;Text style={{ fontSize: 15, color: '#0E3F8C', fontWeight: 600 }}&gt;DeepSeek&lt;/Text&gt;&#10;                &lt;/Box&gt;&#10;                &lt;Box style={{ background: '#EAF1FB', borderRadius: 20, paddingLeft: 20, paddingRight: 20, paddingTop: 9, paddingBottom: 9 }}&gt;&#10;                    &lt;Text style={{ fontSize: 15, color: '#0E3F8C', fontWeight: 600 }}&gt;通义千问&lt;/Text&gt;&#10;                &lt;/Box&gt;&#10;                &lt;Box style={{ background: '#EAF1FB', borderRadius: 20, paddingLeft: 20, paddingRight: 20, paddingTop: 9, paddingBottom: 9 }}&gt;&#10;                    &lt;Text style={{ fontSize: 15, color: '#0E3F8C', fontWeight: 600 }}&gt;Kimi&lt;/Text&gt;&#10;                &lt;/Box&gt;&#10;                &lt;Box style={{ background: '#EAF1FB', borderRadius: 20, paddingLeft: 20, paddingRight: 20, paddingTop: 9, paddingBottom: 9 }}&gt;&#10;                    &lt;Text style={{ fontSize: 15, color: '#0E3F8C', fontWeight: 600 }}&gt;OpenAI&lt;/Text&gt;&#10;                &lt;/Box&gt;&#10;            &lt;/Box&gt;&#10;        &lt;/Box&gt;&#10;&#10;        {/* 底部说明 */}&#10;        &lt;Box style={{ flexDirection: 'row', gap: 14, marginTop: 22 }}&gt;&#10;            &lt;Text style={{ fontSize: 14, color: '#8B97A8' }}&gt;数据层：&lt;/Text&gt;&#10;            &lt;Text style={{ fontSize: 14, color: '#4A5568' }}&gt;SQLite 轻量存储（用户 / 历史 / 村落档案）　·　无需额外数据库运维，开箱即用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914400" y="5905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23950" y="552450"/>
            <a:ext cx="4533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总体架构：四层解耦，双端触达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276350" y="14382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接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入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2324100" y="1171575"/>
            <a:ext cx="2857500" cy="676275"/>
          </a:xfrm>
          <a:prstGeom prst="roundRect">
            <a:avLst>
              <a:gd name="adj" fmla="val 11268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209925" y="13049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微信小程序端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209925" y="156210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A90"/>
                </a:solidFill>
                <a:latin typeface="Microsoft YaHei"/>
                <a:ea typeface="Microsoft YaHei"/>
              </a:rPr>
              <a:t>原生开发</a:t>
            </a:r>
            <a:r>
              <a:rPr lang="en-US" sz="975">
                <a:solidFill>
                  <a:srgbClr val="6B7A9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B7A90"/>
                </a:solidFill>
                <a:latin typeface="Microsoft YaHei"/>
                <a:ea typeface="Microsoft YaHei"/>
              </a:rPr>
              <a:t>随拍随用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334000" y="1171575"/>
            <a:ext cx="2857500" cy="676275"/>
          </a:xfrm>
          <a:prstGeom prst="roundRect">
            <a:avLst>
              <a:gd name="adj" fmla="val 11268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334125" y="130492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H5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网页端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181725" y="156210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7A90"/>
                </a:solidFill>
                <a:latin typeface="Microsoft YaHei"/>
                <a:ea typeface="Microsoft YaHei"/>
              </a:rPr>
              <a:t xml:space="preserve">Vue3 + Vite · </a:t>
            </a:r>
            <a:r>
              <a:rPr lang="zh-CN" sz="975">
                <a:solidFill>
                  <a:srgbClr val="6B7A90"/>
                </a:solidFill>
                <a:latin typeface="Microsoft YaHei"/>
                <a:ea typeface="Microsoft YaHei"/>
              </a:rPr>
              <a:t>免安装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2514600" y="1981200"/>
            <a:ext cx="552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spc="3000">
                <a:solidFill>
                  <a:srgbClr val="B9CDE9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276350" y="25622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服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务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2324100" y="2266950"/>
            <a:ext cx="5867400" cy="733425"/>
          </a:xfrm>
          <a:prstGeom prst="roundRect">
            <a:avLst>
              <a:gd name="adj" fmla="val 1039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486275" y="2419350"/>
            <a:ext cx="154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FastAPI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后端服务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286250" y="2695575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DE9"/>
                </a:solidFill>
                <a:latin typeface="Microsoft YaHei"/>
                <a:ea typeface="Microsoft YaHei"/>
              </a:rPr>
              <a:t>业务编排</a:t>
            </a:r>
            <a:r>
              <a:rPr lang="en-US" sz="975">
                <a:solidFill>
                  <a:srgbClr val="B9CDE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B9CDE9"/>
                </a:solidFill>
                <a:latin typeface="Microsoft YaHei"/>
                <a:ea typeface="Microsoft YaHei"/>
              </a:rPr>
              <a:t>异步并发</a:t>
            </a:r>
            <a:r>
              <a:rPr lang="en-US" sz="975">
                <a:solidFill>
                  <a:srgbClr val="B9CDE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B9CDE9"/>
                </a:solidFill>
                <a:latin typeface="Microsoft YaHei"/>
                <a:ea typeface="Microsoft YaHei"/>
              </a:rPr>
              <a:t>五件套流水线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514600" y="3133725"/>
            <a:ext cx="552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spc="3000">
                <a:solidFill>
                  <a:srgbClr val="B9CDE9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276350" y="36480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能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力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2324100" y="3419475"/>
            <a:ext cx="1866900" cy="600075"/>
          </a:xfrm>
          <a:prstGeom prst="roundRect">
            <a:avLst>
              <a:gd name="adj" fmla="val 12698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2800350" y="35337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统一模型网关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800350" y="37623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兼容协议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4324350" y="3419475"/>
            <a:ext cx="1866900" cy="600075"/>
          </a:xfrm>
          <a:prstGeom prst="roundRect">
            <a:avLst>
              <a:gd name="adj" fmla="val 12698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800600" y="35337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图像合成引擎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848225" y="376237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Pillow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精确排版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324600" y="3419475"/>
            <a:ext cx="1866900" cy="600075"/>
          </a:xfrm>
          <a:prstGeom prst="roundRect">
            <a:avLst>
              <a:gd name="adj" fmla="val 12698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800850" y="35337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语音合成引擎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000875" y="3762375"/>
            <a:ext cx="523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Edge-TTS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2514600" y="4152900"/>
            <a:ext cx="552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spc="3000">
                <a:solidFill>
                  <a:srgbClr val="B9CDE9"/>
                </a:solidFill>
                <a:latin typeface="Microsoft YaHei"/>
                <a:ea typeface="Microsoft YaHei"/>
              </a:rPr>
              <a:t>▼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276350" y="45339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模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型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2324100" y="4438650"/>
            <a:ext cx="1047750" cy="342900"/>
          </a:xfrm>
          <a:prstGeom prst="roundRect">
            <a:avLst>
              <a:gd name="adj" fmla="val 55556"/>
            </a:avLst>
          </a:prstGeom>
          <a:solidFill>
            <a:srgbClr val="FBECEB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2514600" y="4524375"/>
            <a:ext cx="66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3413D"/>
                </a:solidFill>
                <a:latin typeface="Microsoft YaHei"/>
                <a:ea typeface="Microsoft YaHei"/>
              </a:rPr>
              <a:t>智谱</a:t>
            </a:r>
            <a:r>
              <a:rPr lang="en-US" sz="1125" b="1">
                <a:solidFill>
                  <a:srgbClr val="B3413D"/>
                </a:solidFill>
                <a:latin typeface="Microsoft YaHei"/>
                <a:ea typeface="Microsoft YaHei"/>
              </a:rPr>
              <a:t xml:space="preserve"> GLM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3486150" y="4438650"/>
            <a:ext cx="1095375" cy="342900"/>
          </a:xfrm>
          <a:prstGeom prst="roundRect">
            <a:avLst>
              <a:gd name="adj" fmla="val 55556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676650" y="45243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DeepSeek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4695825" y="4438650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886325" y="4524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通义千问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5762625" y="4438650"/>
            <a:ext cx="704850" cy="342900"/>
          </a:xfrm>
          <a:prstGeom prst="roundRect">
            <a:avLst>
              <a:gd name="adj" fmla="val 55556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953125" y="4524375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Kimi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581775" y="4438650"/>
            <a:ext cx="933450" cy="342900"/>
          </a:xfrm>
          <a:prstGeom prst="roundRect">
            <a:avLst>
              <a:gd name="adj" fmla="val 55556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772275" y="452437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OpenAI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14400" y="49911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数据层：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581150" y="499110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SQLite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轻量存储（用户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历史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村落档案）　·　无需额外数据库运维，开箱即用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15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2, paddingLeft: 96, paddingRight: 96, flexDirection: 'column' }}&gt;&#10;&#10;        {/* 页眉 */}&#10;        &lt;Box style={{ flexDirection: 'row', alignItems: 'center', gap: 16, marginBottom: 32 }}&gt;&#10;            &lt;Box style={{ width: 6, height: 32, background: '#1E4FA8', borderRadius: 3 }} /&gt;&#10;            &lt;Text style={{ fontSize: 32, fontWeight: 'bold', color: '#0E3F8C', letterSpacing: 2 }}&gt;五大功能模块：一个平台，五件事&lt;/Text&gt;&#10;        &lt;/Box&gt;&#10;&#10;        {/* 上排两卡 */}&#10;        &lt;Box style={{ flexDirection: 'row', gap: 26, marginBottom: 24 }}&gt;&#10;&#10;            &lt;Box style={{ width: 531, background: '#F5F8FD', borderRadius: 12, paddingTop: 24, paddingBottom: 24, paddingLeft: 28, paddingRight: 28, flexDirection: 'column' }}&gt;&#10;                &lt;Box style={{ flexDirection: 'row', alignItems: 'center', gap: 12, marginBottom: 14 }}&gt;&#10;                    &lt;Box style={{ width: 32, height: 32, background: '#1E4FA8', borderRadius: 8, alignItems: 'center', justifyContent: 'center' }}&gt;&#10;                        &lt;Text style={{ fontSize: 15, color: '#FFFFFF', fontWeight: 'bold' }}&gt;01&lt;/Text&gt;&#10;                    &lt;/Box&gt;&#10;                    &lt;Text style={{ fontSize: 22, fontWeight: 'bold', color: '#1A2230' }}&gt;山货五件套生成器&lt;/Text&gt;&#10;                &lt;/Box&gt;&#10;                &lt;Text style={{ fontSize: 16, color: '#4A5568', lineHeight: 1.7 }}&gt;&#10;                    一次上传，并行生成营销文案、宣传海报、语音播报、短视频脚本、定价建议，打包交付。&#10;                &lt;/Text&gt;&#10;            &lt;/Box&gt;&#10;&#10;            &lt;Box style={{ width: 531, background: '#F5F8FD', borderRadius: 12, paddingTop: 24, paddingBottom: 24, paddingLeft: 28, paddingRight: 28, flexDirection: 'column' }}&gt;&#10;                &lt;Box style={{ flexDirection: 'row', alignItems: 'center', gap: 12, marginBottom: 14 }}&gt;&#10;                    &lt;Box style={{ width: 32, height: 32, background: '#1E4FA8', borderRadius: 8, alignItems: 'center', justifyContent: 'center' }}&gt;&#10;                        &lt;Text style={{ fontSize: 15, color: '#FFFFFF', fontWeight: 'bold' }}&gt;02&lt;/Text&gt;&#10;                    &lt;/Box&gt;&#10;                    &lt;Text style={{ fontSize: 22, fontWeight: 'bold', color: '#1A2230' }}&gt;AI 数字讲解员&lt;/Text&gt;&#10;                &lt;/Box&gt;&#10;                &lt;Text style={{ fontSize: 16, color: '#4A5568', lineHeight: 1.7 }}&gt;&#10;                    为每个村落生成专属文化讲解，扫码即听，让&quot;看风景&quot;升级为&quot;听故事&quot;。&#10;                &lt;/Text&gt;&#10;            &lt;/Box&gt;&#10;&#10;        &lt;/Box&gt;&#10;&#10;        {/* 下排三卡 */}&#10;        &lt;Box style={{ flexDirection: 'row', gap: 20 }}&gt;&#10;&#10;            &lt;Box style={{ width: 340, background: '#F5F8FD', borderRadius: 12, paddingTop: 22, paddingBottom: 22, paddingLeft: 24, paddingRight: 24, flexDirection: 'column' }}&gt;&#10;                &lt;Box style={{ flexDirection: 'row', alignItems: 'center', gap: 10, marginBottom: 12 }}&gt;&#10;                    &lt;Box style={{ width: 28, height: 28, background: '#3D7BD9', borderRadius: 7, alignItems: 'center', justifyContent: 'center' }}&gt;&#10;                        &lt;Text style={{ fontSize: 13, color: '#FFFFFF', fontWeight: 'bold' }}&gt;03&lt;/Text&gt;&#10;                    &lt;/Box&gt;&#10;                    &lt;Text style={{ fontSize: 18, fontWeight: 'bold', color: '#1A2230' }}&gt;多厂商模型引擎&lt;/Text&gt;&#10;                &lt;/Box&gt;&#10;                &lt;Text style={{ fontSize: 15, color: '#4A5568', lineHeight: 1.65 }}&gt;&#10;                    一套接口适配五家模型，环境变量即可切换，永不锁定单一厂商。&#10;                &lt;/Text&gt;&#10;            &lt;/Box&gt;&#10;&#10;            &lt;Box style={{ width: 340, background: '#F5F8FD', borderRadius: 12, paddingTop: 22, paddingBottom: 22, paddingLeft: 24, paddingRight: 24, flexDirection: 'column' }}&gt;&#10;                &lt;Box style={{ flexDirection: 'row', alignItems: 'center', gap: 10, marginBottom: 12 }}&gt;&#10;                    &lt;Box style={{ width: 28, height: 28, background: '#3D7BD9', borderRadius: 7, alignItems: 'center', justifyContent: 'center' }}&gt;&#10;                        &lt;Text style={{ fontSize: 13, color: '#FFFFFF', fontWeight: 'bold' }}&gt;04&lt;/Text&gt;&#10;                    &lt;/Box&gt;&#10;                    &lt;Text style={{ fontSize: 18, fontWeight: 'bold', color: '#1A2230' }}&gt;用户系统与历史&lt;/Text&gt;&#10;                &lt;/Box&gt;&#10;                &lt;Text style={{ fontSize: 15, color: '#4A5568', lineHeight: 1.65 }}&gt;&#10;                    账号登录、生成记录留存、成果随时回看与二次下载。&#10;                &lt;/Text&gt;&#10;            &lt;/Box&gt;&#10;&#10;            &lt;Box style={{ width: 340, background: '#FDF8F7', borderRadius: 12, paddingTop: 22, paddingBottom: 22, paddingLeft: 24, paddingRight: 24, flexDirection: 'column' }}&gt;&#10;                &lt;Box style={{ flexDirection: 'row', alignItems: 'center', gap: 10, marginBottom: 12 }}&gt;&#10;                    &lt;Box style={{ width: 28, height: 28, background: '#D9534F', borderRadius: 7, alignItems: 'center', justifyContent: 'center' }}&gt;&#10;                        &lt;Text style={{ fontSize: 13, color: '#FFFFFF', fontWeight: 'bold' }}&gt;05&lt;/Text&gt;&#10;                    &lt;/Box&gt;&#10;                    &lt;Text style={{ fontSize: 18, fontWeight: 'bold', color: '#B3413D' }}&gt;演示兜底机制&lt;/Text&gt;&#10;                &lt;/Box&gt;&#10;                &lt;Text style={{ fontSize: 15, color: '#6B5A59', lineHeight: 1.65 }}&gt;&#10;                    模型不可用时自动降级到内置样例，保证演示与使用永不中断。&#10;                &lt;/Text&gt;&#10;            &lt;/Box&gt;&#10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914400" y="628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123950" y="590550"/>
            <a:ext cx="4857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五大功能模块：一个平台，五件事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914400" y="1266825"/>
            <a:ext cx="5057775" cy="1524000"/>
          </a:xfrm>
          <a:prstGeom prst="roundRect">
            <a:avLst>
              <a:gd name="adj" fmla="val 7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1181100" y="14954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247775" y="156210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600200" y="1524000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山货五件套生成器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81100" y="1933575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一次上传，并行生成营销文案、宣传海报、语音播报、短视频脚本、定价建议，打包交付。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219825" y="1266825"/>
            <a:ext cx="5057775" cy="1524000"/>
          </a:xfrm>
          <a:prstGeom prst="roundRect">
            <a:avLst>
              <a:gd name="adj" fmla="val 7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6486525" y="14954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553200" y="156210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905625" y="1524000"/>
            <a:ext cx="1343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数字讲解员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486525" y="1933575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为每个村落生成专属文化讲解，扫码即听，让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看风景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升级为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听故事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914400" y="3019425"/>
            <a:ext cx="3238500" cy="1371600"/>
          </a:xfrm>
          <a:prstGeom prst="roundRect">
            <a:avLst>
              <a:gd name="adj" fmla="val 8333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1143000" y="3228975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200150" y="32861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504950" y="32575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多厂商模型引擎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143000" y="3609975"/>
            <a:ext cx="2781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一套接口适配五家模型，环境变量即可切换，永不锁定单一厂商。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343400" y="3019425"/>
            <a:ext cx="3238500" cy="1371600"/>
          </a:xfrm>
          <a:prstGeom prst="roundRect">
            <a:avLst>
              <a:gd name="adj" fmla="val 8333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4572000" y="3228975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629150" y="32861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933950" y="32575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用户系统与历史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572000" y="3609975"/>
            <a:ext cx="2781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账号登录、生成记录留存、成果随时回看与二次下载。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7772400" y="3019425"/>
            <a:ext cx="3238500" cy="1371600"/>
          </a:xfrm>
          <a:prstGeom prst="roundRect">
            <a:avLst>
              <a:gd name="adj" fmla="val 8333"/>
            </a:avLst>
          </a:prstGeom>
          <a:solidFill>
            <a:srgbClr val="FDF8F7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8001000" y="3228975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058150" y="32861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362950" y="32575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413D"/>
                </a:solidFill>
                <a:latin typeface="Microsoft YaHei"/>
                <a:ea typeface="Microsoft YaHei"/>
              </a:rPr>
              <a:t>演示兜底机制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001000" y="3609975"/>
            <a:ext cx="2781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6B5A59"/>
                </a:solidFill>
                <a:latin typeface="Microsoft YaHei"/>
                <a:ea typeface="Microsoft YaHei"/>
              </a:rPr>
              <a:t>模型不可用时自动降级到内置样例，保证演示与使用永不中断。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46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2, paddingLeft: 96, paddingRight: 96, flexDirection: 'column' }}&gt;&#10;&#10;        {/* 页眉 */}&#10;        &lt;Box style={{ flexDirection: 'row', alignItems: 'center', gap: 16, marginBottom: 30 }}&gt;&#10;            &lt;Box style={{ width: 6, height: 32, background: '#1E4FA8', borderRadius: 3 }} /&gt;&#10;            &lt;Text style={{ fontSize: 32, fontWeight: 'bold', color: '#0E3F8C', letterSpacing: 2 }}&gt;核心链路：一张照片进去，五件套出来&lt;/Text&gt;&#10;        &lt;/Box&gt;&#10;&#10;        {/* 金句条 */}&#10;        &lt;Box style={{ flexDirection: 'row', alignItems: 'center', gap: 12, marginBottom: 40, justifyContent: 'center' }}&gt;&#10;            &lt;Box style={{ width: 6, height: 6, background: '#D9534F', borderRadius: 3 }} /&gt;&#10;            &lt;Text style={{ fontSize: 22, color: '#0E3F8C', fontWeight: 'bold', letterSpacing: 1 }}&gt;&#10;                从按下快门到可发布素材，全程约 30 秒&#10;            &lt;/Text&gt;&#10;        &lt;/Box&gt;&#10;&#10;        {/* 时间轴 */}&#10;        &lt;Box style={{ flexDirection: 'row', alignItems: 'flex-start', justifyContent: 'space-between', position: 'relative' }}&gt;&#10;&#10;            {/* 步骤 1 */}&#10;            &lt;Box style={{ width: 190, flexDirection: 'column', alignItems: 'center' }}&gt;&#10;                &lt;Box style={{ width: 62, height: 62, background: '#1E4FA8', borderRadius: 31, alignItems: 'center', justifyContent: 'center' }}&gt;&#10;                    &lt;Text style={{ fontSize: 24, color: '#FFFFFF', fontWeight: 'bold' }}&gt;1&lt;/Text&gt;&#10;                &lt;/Box&gt;&#10;                &lt;Text style={{ fontSize: 18, fontWeight: 'bold', color: '#1A2230', marginTop: 16, marginBottom: 8 }}&gt;拍照上传&lt;/Text&gt;&#10;                &lt;Text style={{ fontSize: 14, color: '#6B7A90', textAlign: 'center', lineHeight: 1.6 }}&gt;手机拍摄山货实拍图，一键提交&lt;/Text&gt;&#10;            &lt;/Box&gt;&#10;&#10;            &lt;Text style={{ fontSize: 22, color: '#C8D3E2', marginTop: 20 }}&gt;→&lt;/Text&gt;&#10;&#10;            {/* 步骤 2 */}&#10;            &lt;Box style={{ width: 190, flexDirection: 'column', alignItems: 'center' }}&gt;&#10;                &lt;Box style={{ width: 62, height: 62, background: '#2E6FC7', borderRadius: 31, alignItems: 'center', justifyContent: 'center' }}&gt;&#10;                    &lt;Text style={{ fontSize: 24, color: '#FFFFFF', fontWeight: 'bold' }}&gt;2&lt;/Text&gt;&#10;                &lt;/Box&gt;&#10;                &lt;Text style={{ fontSize: 18, fontWeight: 'bold', color: '#1A2230', marginTop: 16, marginBottom: 8 }}&gt;AI 识图建档&lt;/Text&gt;&#10;                &lt;Text style={{ fontSize: 14, color: '#6B7A90', textAlign: 'center', lineHeight: 1.6 }}&gt;多模态模型识别品类、品相、产地&lt;/Text&gt;&#10;            &lt;/Box&gt;&#10;&#10;            &lt;Text style={{ fontSize: 22, color: '#C8D3E2', marginTop: 20 }}&gt;→&lt;/Text&gt;&#10;&#10;            {/* 步骤 3 */}&#10;            &lt;Box style={{ width: 190, flexDirection: 'column', alignItems: 'center' }}&gt;&#10;                &lt;Box style={{ width: 62, height: 62, background: '#3D7BD9', borderRadius: 31, alignItems: 'center', justifyContent: 'center' }}&gt;&#10;                    &lt;Text style={{ fontSize: 24, color: '#FFFFFF', fontWeight: 'bold' }}&gt;3&lt;/Text&gt;&#10;                &lt;/Box&gt;&#10;                &lt;Text style={{ fontSize: 18, fontWeight: 'bold', color: '#1A2230', marginTop: 16, marginBottom: 8 }}&gt;并行生成&lt;/Text&gt;&#10;                &lt;Text style={{ fontSize: 14, color: '#6B7A90', textAlign: 'center', lineHeight: 1.6 }}&gt;文案 ‖ 海报 ‖ 语音 ‖ 脚本 ‖ 定价&lt;/Text&gt;&#10;            &lt;/Box&gt;&#10;&#10;            &lt;Text style={{ fontSize: 22, color: '#C8D3E2', marginTop: 20 }}&gt;→&lt;/Text&gt;&#10;&#10;            {/* 步骤 4 */}&#10;            &lt;Box style={{ width: 190, flexDirection: 'column', alignItems: 'center' }}&gt;&#10;                &lt;Box style={{ width: 62, height: 62, background: '#0E3F8C', borderRadius: 31, alignItems: 'center', justifyContent: 'center' }}&gt;&#10;                    &lt;Text style={{ fontSize: 24, color: '#FFFFFF', fontWeight: 'bold' }}&gt;4&lt;/Text&gt;&#10;                &lt;/Box&gt;&#10;                &lt;Text style={{ fontSize: 18, fontWeight: 'bold', color: '#1A2230', marginTop: 16, marginBottom: 8 }}&gt;五件套交付&lt;/Text&gt;&#10;                &lt;Text style={{ fontSize: 14, color: '#6B7A90', textAlign: 'center', lineHeight: 1.6 }}&gt;打包可直接发布、转发、下载&lt;/Text&gt;&#10;            &lt;/Box&gt;&#10;&#10;        &lt;/Box&gt;&#10;&#10;        {/* 并行生成展开说明 */}&#10;        &lt;Box style={{ background: '#F5F8FD', borderRadius: 12, paddingTop: 22, paddingBottom: 22, paddingLeft: 30, paddingRight: 30, marginTop: 44 }}&gt;&#10;            &lt;Box style={{ flexDirection: 'row', alignItems: 'center', gap: 10, marginBottom: 14 }}&gt;&#10;                &lt;Text style={{ fontSize: 16, color: '#0E3F8C', fontWeight: 'bold' }}&gt;第 3 步为什么快：异步并发编排&lt;/Text&gt;&#10;            &lt;/Box&gt;&#10;            &lt;Text style={{ fontSize: 16, color: '#4A5568', lineHeight: 1.7 }}&gt;&#10;                五个生成任务相互独立，后端以异步任务并发调度，总耗时取决于最慢的一项而非累加，&#10;                因此五件套的整体生成时间与单件基本持平。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914400" y="628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123950" y="590550"/>
            <a:ext cx="55054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核心链路：一张照片进去，五件套出来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048125" y="13525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219575" y="1247775"/>
            <a:ext cx="393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75">
                <a:solidFill>
                  <a:srgbClr val="0E3F8C"/>
                </a:solidFill>
                <a:latin typeface="Microsoft YaHei"/>
                <a:ea typeface="Microsoft YaHei"/>
              </a:rPr>
              <a:t>从按下快门到可发布素材，全程约</a:t>
            </a:r>
            <a:r>
              <a:rPr lang="en-US" sz="165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650" b="1" spc="75">
                <a:solidFill>
                  <a:srgbClr val="0E3F8C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914400" y="3848100"/>
            <a:ext cx="10363200" cy="1057275"/>
          </a:xfrm>
          <a:prstGeom prst="roundRect">
            <a:avLst>
              <a:gd name="adj" fmla="val 10811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200150" y="40576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步为什么快：异步并发编排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200150" y="4381500"/>
            <a:ext cx="9791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五个生成任务相互独立，后端以异步任务并发调度，总耗时取决于最慢的一项而非累加，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因此五件套的整体生成时间与单件基本持平。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1524000" y="18859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752600" y="20478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476375" y="2628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拍照上传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914400" y="2914650"/>
            <a:ext cx="1809750" cy="5143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手机拍摄山货实拍图，一键提交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3143250" y="20764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8D3E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4371975" y="18859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2E6FC7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600575" y="20478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210050" y="2628900"/>
            <a:ext cx="923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识图建档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762375" y="2914650"/>
            <a:ext cx="1809750" cy="5143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多模态模型识别品类、品相、产地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991225" y="20764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8D3E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229475" y="18859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458075" y="20478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181850" y="2628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并行生成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619875" y="2914650"/>
            <a:ext cx="1809750" cy="5143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文案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‖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海报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‖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语音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‖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脚本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‖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定价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839200" y="20764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8D3E2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10077450" y="18859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0306050" y="20478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944100" y="2628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五件套交付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505950" y="2914650"/>
            <a:ext cx="17335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打包可直接发布、转发、下载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 width: 1280, height: 720, background: '#0E3F8C', position: 'relative', padding: 0 }}&gt;&#10;    &lt;Box style={{ position: 'absolute', top: -80, right: -60, width: 460, height: 460, background: '#164C9E', borderRadius: 230 }} /&gt;&#10;    &lt;Box style={{ position: 'absolute', bottom: -120, right: 180, width: 320, height: 320, background: '#143F82', borderRadius: 160 }} /&gt;&#10;&#10;    &lt;Box style={{ position: 'relative', paddingTop: 240, paddingLeft: 120, flexDirection: 'column' }}&gt;&#10;        &lt;Text style={{ fontSize: 190, fontWeight: 'bold', color: '#2E6FC7', fontFamily: 'Times New Roman', lineHeight: 1, letterSpacing: 4 }}&gt;&#10;            03&#10;        &lt;/Text&gt;&#10;        &lt;Box style={{ width: 96, height: 5, background: '#FFFFFF', marginTop: 34, marginBottom: 30, borderRadius: 3 }} /&gt;&#10;        &lt;Text style={{ fontSize: 52, fontWeight: 'bold', color: '#FFFFFF', letterSpacing: 6 }}&gt;&#10;            关键技术与实现&#10;        &lt;/Text&gt;&#10;        &lt;Text style={{ fontSize: 20, color: '#9FC0E8', letterSpacing: 2, marginTop: 22, fontFamily: 'Times New Roman' }}&gt;&#10;            Key Technologies &amp; Implementation&#10;        &lt;/Text&gt;&#10;        &lt;Text style={{ fontSize: 19, color: '#C5D8F0', marginTop: 34, letterSpacing: 1 }}&gt;&#10;            真正决定作品成败的，是这几个工程难题的解法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8382000" y="-762000"/>
            <a:ext cx="4381500" cy="4381500"/>
          </a:xfrm>
          <a:prstGeom prst="roundRect">
            <a:avLst>
              <a:gd name="adj" fmla="val 50000"/>
            </a:avLst>
          </a:prstGeom>
          <a:solidFill>
            <a:srgbClr val="164C9E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7429500" y="49530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143F82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143000" y="2286000"/>
            <a:ext cx="1104900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 spc="300">
                <a:solidFill>
                  <a:srgbClr val="2E6FC7"/>
                </a:solidFill>
                <a:latin typeface="Times New Roman"/>
                <a:ea typeface="Times New Roman"/>
              </a:rPr>
              <a:t>03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1143000" y="4781550"/>
            <a:ext cx="914400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43000" y="5114925"/>
            <a:ext cx="11049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450">
                <a:solidFill>
                  <a:srgbClr val="FFFFFF"/>
                </a:solidFill>
                <a:latin typeface="Microsoft YaHei"/>
                <a:ea typeface="Microsoft YaHei"/>
              </a:rPr>
              <a:t>关键技术与实现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43000" y="59245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FC0E8"/>
                </a:solidFill>
                <a:latin typeface="Times New Roman"/>
                <a:ea typeface="Times New Roman"/>
              </a:rPr>
              <a:t>Key Technologies &amp; Implementation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43000" y="6477000"/>
            <a:ext cx="1104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75">
                <a:solidFill>
                  <a:srgbClr val="C5D8F0"/>
                </a:solidFill>
                <a:latin typeface="Microsoft YaHei"/>
                <a:ea typeface="Microsoft YaHei"/>
              </a:rPr>
              <a:t>真正决定作品成败的，是这几个工程难题的解法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2, paddingLeft: 96, paddingRight: 96, flexDirection: 'column' }}&gt;&#10;&#10;        {/* 页眉 */}&#10;        &lt;Box style={{ flexDirection: 'row', alignItems: 'center', gap: 16, marginBottom: 28 }}&gt;&#10;            &lt;Box style={{ width: 6, height: 32, background: '#1E4FA8', borderRadius: 3 }} /&gt;&#10;            &lt;Text style={{ fontSize: 32, fontWeight: 'bold', color: '#0E3F8C', letterSpacing: 2 }}&gt;核心创新：中文海报是怎么做出来的&lt;/Text&gt;&#10;        &lt;/Box&gt;&#10;&#10;        {/* 问题提出 */}&#10;        &lt;Box style={{ background: '#FDF8F7', borderRadius: 10, paddingTop: 16, paddingBottom: 16, paddingLeft: 28, paddingRight: 28, marginBottom: 26 }}&gt;&#10;            &lt;Text style={{ fontSize: 17, color: '#6B5A59', lineHeight: 1.7 }}&gt;&#10;                &lt;Text style={{ fontSize: 17, color: '#B3413D', fontWeight: 'bold' }}&gt;问题：&lt;/Text&gt;&#10;                直接让文生图模型画带中文的海报，字必乱码、排版不可控、品牌信息写错 —— 做出来的东西不能用。&#10;            &lt;/Text&gt;&#10;        &lt;/Box&gt;&#10;&#10;        {/* 双栏方案 */}&#10;        &lt;Box style={{ flexDirection: 'row', gap: 32 }}&gt;&#10;&#10;            {/* 左：错误做法 */}&#10;            &lt;Box style={{ width: 528, flexDirection: 'column' }}&gt;&#10;                &lt;Box style={{ flexDirection: 'row', alignItems: 'center', gap: 10, marginBottom: 16 }}&gt;&#10;                    &lt;Box style={{ width: 26, height: 26, background: '#C8CFD9', borderRadius: 13, alignItems: 'center', justifyContent: 'center' }}&gt;&#10;                        &lt;Text style={{ fontSize: 15, color: '#FFFFFF', fontWeight: 'bold' }}&gt;×&lt;/Text&gt;&#10;                    &lt;/Box&gt;&#10;                    &lt;Text style={{ fontSize: 20, fontWeight: 'bold', color: '#8B97A8' }}&gt;错误做法&lt;/Text&gt;&#10;                &lt;/Box&gt;&#10;&#10;                &lt;Box style={{ background: '#F7F7F8', borderRadius: 10, paddingTop: 22, paddingBottom: 22, paddingLeft: 26, paddingRight: 26, flexDirection: 'column' }}&gt;&#10;                    &lt;Text style={{ fontSize: 17, color: '#6B7A90', lineHeight: 1.8 }}&gt;&#10;                        &quot;请画一张海报，上面写「高山蜂蜜，来自海拔 1200 米」&quot;&#10;                    &lt;/Text&gt;&#10;                    &lt;Box style={{ width: 60, height: 2, background: '#E0E3E8', marginTop: 16, marginBottom: 16 }} /&gt;&#10;                    &lt;Text style={{ fontSize: 16, color: '#9AA5B4', lineHeight: 1.8 }}&gt;&#10;                        结果：文字变形、笔画缺失、字号无法控制、无法保证信息准确 —— 只能当底图看。&#10;                    &lt;/Text&gt;&#10;                &lt;/Box&gt;&#10;            &lt;/Box&gt;&#10;&#10;            {/* 右：正确做法 */}&#10;            &lt;Box style={{ width: 528, flexDirection: 'column' }}&gt;&#10;                &lt;Box style={{ flexDirection: 'row', alignItems: 'center', gap: 10, marginBottom: 16 }}&gt;&#10;                    &lt;Box style={{ width: 26, height: 26, background: '#1E4FA8', borderRadius: 13, alignItems: 'center', justifyContent: 'center' }}&gt;&#10;                        &lt;Text style={{ fontSize: 15, color: '#FFFFFF', fontWeight: 'bold' }}&gt;✓&lt;/Text&gt;&#10;                    &lt;/Box&gt;&#10;                    &lt;Text style={{ fontSize: 20, fontWeight: 'bold', color: '#0E3F8C' }}&gt;我们的两段式方案&lt;/Text&gt;&#10;                &lt;/Box&gt;&#10;&#10;                &lt;Box style={{ background: '#F5F8FD', borderRadius: 10, paddingTop: 22, paddingBottom: 22, paddingLeft: 26, paddingRight: 26, flexDirection: 'column' }}&gt;&#10;                    &lt;Box style={{ flexDirection: 'row', gap: 10, marginBottom: 12 }}&gt;&#10;                        &lt;Text style={{ fontSize: 15, color: '#1E4FA8', fontWeight: 'bold' }}&gt;第一段&lt;/Text&gt;&#10;                        &lt;Text style={{ fontSize: 15, color: '#3A4658', lineHeight: 1.7 }}&gt;AI 只画&quot;没有文字的底图&quot;&lt;/Text&gt;&#10;                    &lt;/Box&gt;&#10;                    &lt;Box style={{ flexDirection: 'row', gap: 10 }}&gt;&#10;                        &lt;Text style={{ fontSize: 15, color: '#1E4FA8', fontWeight: 'bold' }}&gt;第二段&lt;/Text&gt;&#10;                        &lt;Text style={{ fontSize: 15, color: '#3A4658', lineHeight: 1.7 }}&gt;本地用 Pillow 精确排版中文&lt;/Text&gt;&#10;                    &lt;/Box&gt;&#10;                    &lt;Box style={{ width: 60, height: 2, background: '#C8D3E2', marginTop: 16, marginBottom: 16 }} /&gt;&#10;                    &lt;Text style={{ fontSize: 16, color: '#0E3F8C', fontWeight: 600, lineHeight: 1.7 }}&gt;&#10;                        字一定能看清、信息一定能写对，且每一张都能稳定复现。&#10;                    &lt;/Text&gt;&#10;                &lt;/Box&gt;&#10;            &lt;/Box&gt;&#10;&#10;        &lt;/Box&gt;&#10;&#10;        {/* 金句 */}&#10;        &lt;Box style={{ flexDirection: 'row', alignItems: 'center', gap: 12, marginTop: 34, justifyContent: 'center' }}&gt;&#10;            &lt;Box style={{ width: 6, height: 6, background: '#D9534F', borderRadius: 3 }} /&gt;&#10;            &lt;Text style={{ fontSize: 22, color: '#0E3F8C', fontWeight: 'bold', letterSpacing: 2 }}&gt;&#10;                AI 负责好看，我们负责准确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914400" y="628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23950" y="590550"/>
            <a:ext cx="5181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核心创新：中文海报是怎么做出来的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914400" y="1228725"/>
            <a:ext cx="10363200" cy="638175"/>
          </a:xfrm>
          <a:prstGeom prst="roundRect">
            <a:avLst>
              <a:gd name="adj" fmla="val 14925"/>
            </a:avLst>
          </a:prstGeom>
          <a:solidFill>
            <a:srgbClr val="FDF8F7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81100" y="1381125"/>
            <a:ext cx="98298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6B5A59"/>
                </a:solidFill>
                <a:latin typeface="Microsoft YaHei"/>
                <a:ea typeface="Microsoft YaHei"/>
              </a:rPr>
              <a:t>问题：</a:t>
            </a:r>
            <a:r>
              <a:rPr lang="zh-CN" sz="1275">
                <a:solidFill>
                  <a:srgbClr val="6B5A59"/>
                </a:solidFill>
                <a:latin typeface="Microsoft YaHei"/>
                <a:ea typeface="Microsoft YaHei"/>
              </a:rPr>
              <a:t>直接让文生图模型画带中文的海报，字必乱码、排版不可控、品牌信息写错</a:t>
            </a:r>
            <a:r>
              <a:rPr lang="en-US" sz="1275">
                <a:solidFill>
                  <a:srgbClr val="6B5A5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6B5A59"/>
                </a:solidFill>
                <a:latin typeface="Microsoft YaHei"/>
                <a:ea typeface="Microsoft YaHei"/>
              </a:rPr>
              <a:t>做出来的东西不能用。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914400" y="21145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C8CFD9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81075" y="2152650"/>
            <a:ext cx="11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257300" y="21240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B97A8"/>
                </a:solidFill>
                <a:latin typeface="Microsoft YaHei"/>
                <a:ea typeface="Microsoft YaHei"/>
              </a:rPr>
              <a:t>错误做法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914400" y="2514600"/>
            <a:ext cx="5029200" cy="1762125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62050" y="2724150"/>
            <a:ext cx="4533900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75">
                <a:solidFill>
                  <a:srgbClr val="6B7A9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B7A90"/>
                </a:solidFill>
                <a:latin typeface="Microsoft YaHei"/>
                <a:ea typeface="Microsoft YaHei"/>
              </a:rPr>
              <a:t>请画一张海报，上面写「高山蜂蜜，来自海拔</a:t>
            </a:r>
            <a:r>
              <a:rPr lang="en-US" sz="1275">
                <a:solidFill>
                  <a:srgbClr val="6B7A90"/>
                </a:solidFill>
                <a:latin typeface="Microsoft YaHei"/>
                <a:ea typeface="Microsoft YaHei"/>
              </a:rPr>
              <a:t xml:space="preserve"> 1200 </a:t>
            </a:r>
            <a:r>
              <a:rPr lang="zh-CN" sz="1275">
                <a:solidFill>
                  <a:srgbClr val="6B7A90"/>
                </a:solidFill>
                <a:latin typeface="Microsoft YaHei"/>
                <a:ea typeface="Microsoft YaHei"/>
              </a:rPr>
              <a:t>米」</a:t>
            </a:r>
            <a:r>
              <a:rPr lang="en-US" sz="1275">
                <a:solidFill>
                  <a:srgbClr val="6B7A9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1162050" y="3228975"/>
            <a:ext cx="571500" cy="19050"/>
          </a:xfrm>
          <a:prstGeom prst="rect">
            <a:avLst/>
          </a:prstGeom>
          <a:solidFill>
            <a:srgbClr val="E0E3E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62050" y="3400425"/>
            <a:ext cx="4533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9AA5B4"/>
                </a:solidFill>
                <a:latin typeface="Microsoft YaHei"/>
                <a:ea typeface="Microsoft YaHei"/>
              </a:rPr>
              <a:t>结果：文字变形、笔画缺失、字号无法控制、无法保证信息准确</a:t>
            </a:r>
            <a:r>
              <a:rPr lang="en-US" sz="1200">
                <a:solidFill>
                  <a:srgbClr val="9AA5B4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9AA5B4"/>
                </a:solidFill>
                <a:latin typeface="Microsoft YaHei"/>
                <a:ea typeface="Microsoft YaHei"/>
              </a:rPr>
              <a:t>只能当底图看。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248400" y="21145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305550" y="21526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591300" y="21240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我们的两段式方案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248400" y="2514600"/>
            <a:ext cx="5029200" cy="1762125"/>
          </a:xfrm>
          <a:prstGeom prst="roundRect">
            <a:avLst>
              <a:gd name="adj" fmla="val 5405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496050" y="2724150"/>
            <a:ext cx="428625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第一段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019925" y="2724150"/>
            <a:ext cx="16002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3A465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3A4658"/>
                </a:solidFill>
                <a:latin typeface="Microsoft YaHei"/>
                <a:ea typeface="Microsoft YaHei"/>
              </a:rPr>
              <a:t>只画</a:t>
            </a:r>
            <a:r>
              <a:rPr lang="en-US" sz="1125">
                <a:solidFill>
                  <a:srgbClr val="3A465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A4658"/>
                </a:solidFill>
                <a:latin typeface="Microsoft YaHei"/>
                <a:ea typeface="Microsoft YaHei"/>
              </a:rPr>
              <a:t>没有文字的底图</a:t>
            </a:r>
            <a:r>
              <a:rPr lang="en-US" sz="1125">
                <a:solidFill>
                  <a:srgbClr val="3A465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496050" y="3133725"/>
            <a:ext cx="428625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第二段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019925" y="3133725"/>
            <a:ext cx="17811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3A4658"/>
                </a:solidFill>
                <a:latin typeface="Microsoft YaHei"/>
                <a:ea typeface="Microsoft YaHei"/>
              </a:rPr>
              <a:t>本地用</a:t>
            </a:r>
            <a:r>
              <a:rPr lang="en-US" sz="1125">
                <a:solidFill>
                  <a:srgbClr val="3A4658"/>
                </a:solidFill>
                <a:latin typeface="Microsoft YaHei"/>
                <a:ea typeface="Microsoft YaHei"/>
              </a:rPr>
              <a:t xml:space="preserve"> Pillow </a:t>
            </a:r>
            <a:r>
              <a:rPr lang="zh-CN" sz="1125">
                <a:solidFill>
                  <a:srgbClr val="3A4658"/>
                </a:solidFill>
                <a:latin typeface="Microsoft YaHei"/>
                <a:ea typeface="Microsoft YaHei"/>
              </a:rPr>
              <a:t>精确排版中文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496050" y="3581400"/>
            <a:ext cx="571500" cy="19050"/>
          </a:xfrm>
          <a:prstGeom prst="rect">
            <a:avLst/>
          </a:prstGeom>
          <a:solidFill>
            <a:srgbClr val="C8D3E2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496050" y="3752850"/>
            <a:ext cx="45339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字一定能看清、信息一定能写对，且每一张都能稳定复现。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581525" y="47053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752975" y="4600575"/>
            <a:ext cx="2867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150">
                <a:solidFill>
                  <a:srgbClr val="0E3F8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 b="1" spc="150">
                <a:solidFill>
                  <a:srgbClr val="0E3F8C"/>
                </a:solidFill>
                <a:latin typeface="Microsoft YaHei"/>
                <a:ea typeface="Microsoft YaHei"/>
              </a:rPr>
              <a:t>负责好看，我们负责准确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2, paddingLeft: 96, paddingRight: 96, flexDirection: 'column' }}&gt;&#10;&#10;        {/* 页眉 */}&#10;        &lt;Box style={{ flexDirection: 'row', alignItems: 'center', gap: 16, marginBottom: 30 }}&gt;&#10;            &lt;Box style={{ width: 6, height: 32, background: '#1E4FA8', borderRadius: 3 }} /&gt;&#10;            &lt;Text style={{ fontSize: 32, fontWeight: 'bold', color: '#0E3F8C', letterSpacing: 2 }}&gt;工程能力：统一模型网关&lt;/Text&gt;&#10;        &lt;/Box&gt;&#10;&#10;        {/* 双栏对比 */}&#10;        &lt;Box style={{ flexDirection: 'row', gap: 32, marginBottom: 30 }}&gt;&#10;&#10;            &lt;Box style={{ width: 528, background: '#F7F7F8', borderRadius: 12, paddingTop: 26, paddingBottom: 26, paddingLeft: 30, paddingRight: 30, flexDirection: 'column' }}&gt;&#10;                &lt;Text style={{ fontSize: 20, fontWeight: 'bold', color: '#8B97A8', marginBottom: 18 }}&gt;常见做法：硬编码单厂商&lt;/Text&gt;&#10;                &lt;Box style={{ flexDirection: 'column', gap: 13 }}&gt;&#10;                    &lt;Box style={{ flexDirection: 'row', gap: 10 }}&gt;&#10;                        &lt;Text style={{ fontSize: 15, color: '#9AA5B4' }}&gt;·&lt;/Text&gt;&#10;                        &lt;Text style={{ fontSize: 16, color: '#6B7A90', lineHeight: 1.65 }}&gt;接口写死在业务代码里&lt;/Text&gt;&#10;                    &lt;/Box&gt;&#10;                    &lt;Box style={{ flexDirection: 'row', gap: 10 }}&gt;&#10;                        &lt;Text style={{ fontSize: 15, color: '#9AA5B4' }}&gt;·&lt;/Text&gt;&#10;                        &lt;Text style={{ fontSize: 16, color: '#6B7A90', lineHeight: 1.65 }}&gt;换模型＝改代码＋重新部署&lt;/Text&gt;&#10;                    &lt;/Box&gt;&#10;                    &lt;Box style={{ flexDirection: 'row', gap: 10 }}&gt;&#10;                        &lt;Text style={{ fontSize: 15, color: '#9AA5B4' }}&gt;·&lt;/Text&gt;&#10;                        &lt;Text style={{ fontSize: 16, color: '#6B7A90', lineHeight: 1.65 }}&gt;厂商涨价或停服 → 项目停摆&lt;/Text&gt;&#10;                    &lt;/Box&gt;&#10;                &lt;/Box&gt;&#10;            &lt;/Box&gt;&#10;&#10;            &lt;Box style={{ width: 528, background: '#F5F8FD', borderRadius: 12, paddingTop: 26, paddingBottom: 26, paddingLeft: 30, paddingRight: 30, flexDirection: 'column' }}&gt;&#10;                &lt;Text style={{ fontSize: 20, fontWeight: 'bold', color: '#0E3F8C', marginBottom: 18 }}&gt;我们的做法：网关可插拔&lt;/Text&gt;&#10;                &lt;Box style={{ flexDirection: 'column', gap: 13 }}&gt;&#10;                    &lt;Box style={{ flexDirection: 'row', gap: 10 }}&gt;&#10;                        &lt;Text style={{ fontSize: 15, color: '#1E4FA8', fontWeight: 'bold' }}&gt;·&lt;/Text&gt;&#10;                        &lt;Text style={{ fontSize: 16, color: '#3A4658', lineHeight: 1.65 }}&gt;统一封装为 OpenAI 兼容协议&lt;/Text&gt;&#10;                    &lt;/Box&gt;&#10;                    &lt;Box style={{ flexDirection: 'row', gap: 10 }}&gt;&#10;                        &lt;Text style={{ fontSize: 15, color: '#1E4FA8', fontWeight: 'bold' }}&gt;·&lt;/Text&gt;&#10;                        &lt;Text style={{ fontSize: 16, color: '#3A4658', lineHeight: 1.65 }}&gt;环境变量改一行即完成切换&lt;/Text&gt;&#10;                    &lt;/Box&gt;&#10;                    &lt;Box style={{ flexDirection: 'row', gap: 10 }}&gt;&#10;                        &lt;Text style={{ fontSize: 15, color: '#1E4FA8', fontWeight: 'bold' }}&gt;·&lt;/Text&gt;&#10;                        &lt;Text style={{ fontSize: 16, color: '#3A4658', lineHeight: 1.65 }}&gt;五家厂商互为备份，永远有可用的模型&lt;/Text&gt;&#10;                    &lt;/Box&gt;&#10;                &lt;/Box&gt;&#10;            &lt;/Box&gt;&#10;&#10;        &lt;/Box&gt;&#10;&#10;        {/* 支持厂商 */}&#10;        &lt;Box style={{ flexDirection: 'column', gap: 14 }}&gt;&#10;            &lt;Text style={{ fontSize: 18, color: '#1A2230', fontWeight: 'bold' }}&gt;当前已适配五家主流大模型&lt;/Text&gt;&#10;            &lt;Box style={{ flexDirection: 'row', gap: 14 }}&gt;&#10;                &lt;Box style={{ flexDirection: 'column', alignItems: 'center', background: '#FBECEB', borderRadius: 10, paddingTop: 14, paddingBottom: 14, width: 200 }}&gt;&#10;                    &lt;Text style={{ fontSize: 18, fontWeight: 'bold', color: '#B3413D' }}&gt;智谱 GLM&lt;/Text&gt;&#10;                    &lt;Text style={{ fontSize: 13, color: '#8B97A8', marginTop: 5 }}&gt;默认 · 免费额度&lt;/Text&gt;&#10;                &lt;/Box&gt;&#10;                &lt;Box style={{ flexDirection: 'column', alignItems: 'center', background: '#F5F8FD', borderRadius: 10, paddingTop: 14, paddingBottom: 14, width: 200 }}&gt;&#10;                    &lt;Text style={{ fontSize: 18, fontWeight: 'bold', color: '#0E3F8C' }}&gt;DeepSeek&lt;/Text&gt;&#10;                    &lt;Text style={{ fontSize: 13, color: '#8B97A8', marginTop: 5 }}&gt;长文本能力强&lt;/Text&gt;&#10;                &lt;/Box&gt;&#10;                &lt;Box style={{ flexDirection: 'column', alignItems: 'center', background: '#F5F8FD', borderRadius: 10, paddingTop: 14, paddingBottom: 14, width: 200 }}&gt;&#10;                    &lt;Text style={{ fontSize: 18, fontWeight: 'bold', color: '#0E3F8C' }}&gt;通义千问&lt;/Text&gt;&#10;                    &lt;Text style={{ fontSize: 13, color: '#8B97A8', marginTop: 5 }}&gt;阿里生态&lt;/Text&gt;&#10;                &lt;/Box&gt;&#10;                &lt;Box style={{ flexDirection: 'column', alignItems: 'center', background: '#F5F8FD', borderRadius: 10, paddingTop: 14, paddingBottom: 14, width: 200 }}&gt;&#10;                    &lt;Text style={{ fontSize: 18, fontWeight: 'bold', color: '#0E3F8C' }}&gt;Kimi&lt;/Text&gt;&#10;                    &lt;Text style={{ fontSize: 13, color: '#8B97A8', marginTop: 5 }}&gt;中文语感佳&lt;/Text&gt;&#10;                &lt;/Box&gt;&#10;            &lt;/Box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914400" y="628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23950" y="590550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工程能力：统一模型网关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914400" y="1247775"/>
            <a:ext cx="5029200" cy="20574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200150" y="1495425"/>
            <a:ext cx="4457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B97A8"/>
                </a:solidFill>
                <a:latin typeface="Microsoft YaHei"/>
                <a:ea typeface="Microsoft YaHei"/>
              </a:rPr>
              <a:t>常见做法：硬编码单厂商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200150" y="1895475"/>
            <a:ext cx="38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AA5B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333500" y="1895475"/>
            <a:ext cx="15240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6B7A90"/>
                </a:solidFill>
                <a:latin typeface="Microsoft YaHei"/>
                <a:ea typeface="Microsoft YaHei"/>
              </a:rPr>
              <a:t>接口写死在业务代码里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200150" y="2324100"/>
            <a:ext cx="38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AA5B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333500" y="2324100"/>
            <a:ext cx="1828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6B7A90"/>
                </a:solidFill>
                <a:latin typeface="Microsoft YaHei"/>
                <a:ea typeface="Microsoft YaHei"/>
              </a:rPr>
              <a:t>换模型＝改代码＋重新部署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200150" y="2752725"/>
            <a:ext cx="38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9AA5B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333500" y="2752725"/>
            <a:ext cx="192405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6B7A90"/>
                </a:solidFill>
                <a:latin typeface="Microsoft YaHei"/>
                <a:ea typeface="Microsoft YaHei"/>
              </a:rPr>
              <a:t>厂商涨价或停服</a:t>
            </a:r>
            <a:r>
              <a:rPr lang="en-US" sz="1200">
                <a:solidFill>
                  <a:srgbClr val="6B7A9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6B7A90"/>
                </a:solidFill>
                <a:latin typeface="Microsoft YaHei"/>
                <a:ea typeface="Microsoft YaHei"/>
              </a:rPr>
              <a:t>项目停摆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248400" y="1247775"/>
            <a:ext cx="5029200" cy="2057400"/>
          </a:xfrm>
          <a:prstGeom prst="roundRect">
            <a:avLst>
              <a:gd name="adj" fmla="val 5556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534150" y="1495425"/>
            <a:ext cx="4457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我们的做法：网关可插拔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534150" y="1895475"/>
            <a:ext cx="66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1E4FA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696075" y="1895475"/>
            <a:ext cx="20193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统一封装为</a:t>
            </a:r>
            <a:r>
              <a:rPr lang="en-US" sz="1200">
                <a:solidFill>
                  <a:srgbClr val="3A4658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兼容协议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534150" y="2324100"/>
            <a:ext cx="66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1E4FA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696075" y="2324100"/>
            <a:ext cx="1828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环境变量改一行即完成切换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534150" y="2752725"/>
            <a:ext cx="66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1E4FA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696075" y="2752725"/>
            <a:ext cx="2590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五家厂商互为备份，永远有可用的模型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14400" y="359092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当前已适配五家主流大模型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14400" y="3933825"/>
            <a:ext cx="1905000" cy="676275"/>
          </a:xfrm>
          <a:prstGeom prst="roundRect">
            <a:avLst>
              <a:gd name="adj" fmla="val 14085"/>
            </a:avLst>
          </a:prstGeom>
          <a:solidFill>
            <a:srgbClr val="FBECEB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466850" y="406717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413D"/>
                </a:solidFill>
                <a:latin typeface="Microsoft YaHei"/>
                <a:ea typeface="Microsoft YaHei"/>
              </a:rPr>
              <a:t>智谱</a:t>
            </a:r>
            <a:r>
              <a:rPr lang="en-US" sz="1350" b="1">
                <a:solidFill>
                  <a:srgbClr val="B3413D"/>
                </a:solidFill>
                <a:latin typeface="Microsoft YaHei"/>
                <a:ea typeface="Microsoft YaHei"/>
              </a:rPr>
              <a:t xml:space="preserve"> GLM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43243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默认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免费额度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2952750" y="3933825"/>
            <a:ext cx="1905000" cy="676275"/>
          </a:xfrm>
          <a:prstGeom prst="roundRect">
            <a:avLst>
              <a:gd name="adj" fmla="val 14085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476625" y="40671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DeepSeek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533775" y="43243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长文本能力强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991100" y="3933825"/>
            <a:ext cx="1905000" cy="676275"/>
          </a:xfrm>
          <a:prstGeom prst="roundRect">
            <a:avLst>
              <a:gd name="adj" fmla="val 14085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600700" y="40671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通义千问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695950" y="43243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阿里生态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029450" y="3933825"/>
            <a:ext cx="1905000" cy="676275"/>
          </a:xfrm>
          <a:prstGeom prst="roundRect">
            <a:avLst>
              <a:gd name="adj" fmla="val 14085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791450" y="4067175"/>
            <a:ext cx="39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Kimi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677150" y="43243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中文语感佳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2, paddingLeft: 96, paddingRight: 96, flexDirection: 'column' }}&gt;&#10;&#10;        {/* 页眉 */}&#10;        &lt;Box style={{ flexDirection: 'row', alignItems: 'center', gap: 16, marginBottom: 30 }}&gt;&#10;            &lt;Box style={{ width: 6, height: 32, background: '#1E4FA8', borderRadius: 3 }} /&gt;&#10;            &lt;Text style={{ fontSize: 32, fontWeight: 'bold', color: '#0E3F8C', letterSpacing: 2 }}&gt;四项支撑技术&lt;/Text&gt;&#10;        &lt;/Box&gt;&#10;&#10;        {/* 2×2 矩阵 */}&#10;        &lt;Box style={{ flexDirection: 'row', gap: 26, marginBottom: 24 }}&gt;&#10;&#10;            &lt;Box style={{ width: 531, background: '#F5F8FD', borderRadius: 12, paddingTop: 24, paddingBottom: 24, paddingLeft: 28, paddingRight: 28, flexDirection: 'column' }}&gt;&#10;                &lt;Box style={{ flexDirection: 'row', alignItems: 'center', gap: 12, marginBottom: 14 }}&gt;&#10;                    &lt;Box style={{ width: 32, height: 32, background: '#1E4FA8', borderRadius: 8, alignItems: 'center', justifyContent: 'center' }}&gt;&#10;                        &lt;Text style={{ fontSize: 15, color: '#FFFFFF', fontWeight: 'bold' }}&gt;01&lt;/Text&gt;&#10;                    &lt;/Box&gt;&#10;                    &lt;Text style={{ fontSize: 21, fontWeight: 'bold', color: '#1A2230' }}&gt;结构化多模态识图&lt;/Text&gt;&#10;                &lt;/Box&gt;&#10;                &lt;Text style={{ fontSize: 16, color: '#4A5568', lineHeight: 1.7 }}&gt;&#10;                    用提示词约束模型必须输出 JSON 结构，让&quot;看懂图片&quot;变成&quot;可直接入库的数据&quot;。&#10;                &lt;/Text&gt;&#10;            &lt;/Box&gt;&#10;&#10;            &lt;Box style={{ width: 531, background: '#F5F8FD', borderRadius: 12, paddingTop: 24, paddingBottom: 24, paddingLeft: 28, paddingRight: 28, flexDirection: 'column' }}&gt;&#10;                &lt;Box style={{ flexDirection: 'row', alignItems: 'center', gap: 12, marginBottom: 14 }}&gt;&#10;                    &lt;Box style={{ width: 32, height: 32, background: '#2E6FC7', borderRadius: 8, alignItems: 'center', justifyContent: 'center' }}&gt;&#10;                        &lt;Text style={{ fontSize: 15, color: '#FFFFFF', fontWeight: 'bold' }}&gt;02&lt;/Text&gt;&#10;                    &lt;/Box&gt;&#10;                    &lt;Text style={{ fontSize: 21, fontWeight: 'bold', color: '#1A2230' }}&gt;智能语音合成&lt;/Text&gt;&#10;                &lt;/Box&gt;&#10;                &lt;Text style={{ fontSize: 16, color: '#4A5568', lineHeight: 1.7 }}&gt;&#10;                    基于 Edge-TTS 生成自然中文讲解音频，无需付费接口，毫秒级响应。&#10;                &lt;/Text&gt;&#10;            &lt;/Box&gt;&#10;&#10;        &lt;/Box&gt;&#10;&#10;        &lt;Box style={{ flexDirection: 'row', gap: 26 }}&gt;&#10;&#10;            &lt;Box style={{ width: 531, background: '#F5F8FD', borderRadius: 12, paddingTop: 24, paddingBottom: 24, paddingLeft: 28, paddingRight: 28, flexDirection: 'column' }}&gt;&#10;                &lt;Box style={{ flexDirection: 'row', alignItems: 'center', gap: 12, marginBottom: 14 }}&gt;&#10;                    &lt;Box style={{ width: 32, height: 32, background: '#3D7BD9', borderRadius: 8, alignItems: 'center', justifyContent: 'center' }}&gt;&#10;                        &lt;Text style={{ fontSize: 15, color: '#FFFFFF', fontWeight: 'bold' }}&gt;03&lt;/Text&gt;&#10;                    &lt;/Box&gt;&#10;                    &lt;Text style={{ fontSize: 21, fontWeight: 'bold', color: '#1A2230' }}&gt;双端工程化&lt;/Text&gt;&#10;                &lt;/Box&gt;&#10;                &lt;Text style={{ fontSize: 16, color: '#4A5568', lineHeight: 1.7 }}&gt;&#10;                    小程序与 H5 共用同一套后端接口，前端各自优化交互，一套服务双端触达。&#10;                &lt;/Text&gt;&#10;            &lt;/Box&gt;&#10;&#10;            &lt;Box style={{ width: 531, background: '#FDF8F7', borderRadius: 12, paddingTop: 24, paddingBottom: 24, paddingLeft: 28, paddingRight: 28, flexDirection: 'column' }}&gt;&#10;                &lt;Box style={{ flexDirection: 'row', alignItems: 'center', gap: 12, marginBottom: 14 }}&gt;&#10;                    &lt;Box style={{ width: 32, height: 32, background: '#D9534F', borderRadius: 8, alignItems: 'center', justifyContent: 'center' }}&gt;&#10;                        &lt;Text style={{ fontSize: 15, color: '#FFFFFF', fontWeight: 'bold' }}&gt;04&lt;/Text&gt;&#10;                    &lt;/Box&gt;&#10;                    &lt;Text style={{ fontSize: 21, fontWeight: 'bold', color: '#B3413D' }}&gt;降级兜底机制&lt;/Text&gt;&#10;                &lt;/Box&gt;&#10;                &lt;Text style={{ fontSize: 16, color: '#6B5A59', lineHeight: 1.7 }}&gt;&#10;                    模型超时或额度耗尽时自动切换内置样例数据，保证演示现场零失误。&#10;                &lt;/Text&gt;&#10;            &lt;/Box&gt;&#10;&#10;        &lt;/Box&gt;&#10;&#10;        {/* 底部强调 */}&#10;        &lt;Box style={{ flexDirection: 'row', alignItems: 'center', gap: 12, marginTop: 30, justifyContent: 'center' }}&gt;&#10;          &lt;Box style={{ width: 28, height: 1, background: '#C8D3E2' }} /&gt;&#10;          &lt;Text style={{ fontSize: 17, color: '#6B7A90' }}&gt;技术不是炫技，是为了让农户&quot;真的能用起来&quot;&lt;/Text&gt;&#10;          &lt;Box style={{ width: 28, height: 1, background: '#C8D3E2' }} /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914400" y="628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23950" y="590550"/>
            <a:ext cx="1943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四项支撑技术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914400" y="1247775"/>
            <a:ext cx="5057775" cy="1524000"/>
          </a:xfrm>
          <a:prstGeom prst="roundRect">
            <a:avLst>
              <a:gd name="adj" fmla="val 7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1181100" y="1476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247775" y="15430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600200" y="150495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结构化多模态识图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81100" y="1914525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用提示词约束模型必须输出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结构，让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看懂图片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变成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可直接入库的数据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219825" y="1247775"/>
            <a:ext cx="5057775" cy="1524000"/>
          </a:xfrm>
          <a:prstGeom prst="roundRect">
            <a:avLst>
              <a:gd name="adj" fmla="val 7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6486525" y="1476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E6FC7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553200" y="15430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905625" y="150495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智能语音合成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86525" y="1914525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基于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Edge-TTS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生成自然中文讲解音频，无需付费接口，毫秒级响应。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914400" y="3000375"/>
            <a:ext cx="5057775" cy="1524000"/>
          </a:xfrm>
          <a:prstGeom prst="roundRect">
            <a:avLst>
              <a:gd name="adj" fmla="val 7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1181100" y="3228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247775" y="32956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600200" y="3257550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双端工程化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81100" y="3667125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小程序与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H5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共用同一套后端接口，前端各自优化交互，一套服务双端触达。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219825" y="3000375"/>
            <a:ext cx="5057775" cy="1524000"/>
          </a:xfrm>
          <a:prstGeom prst="roundRect">
            <a:avLst>
              <a:gd name="adj" fmla="val 7500"/>
            </a:avLst>
          </a:prstGeom>
          <a:solidFill>
            <a:srgbClr val="FDF8F7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486525" y="3228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553200" y="329565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905625" y="325755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B3413D"/>
                </a:solidFill>
                <a:latin typeface="Microsoft YaHei"/>
                <a:ea typeface="Microsoft YaHei"/>
              </a:rPr>
              <a:t>降级兜底机制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486525" y="3667125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B5A59"/>
                </a:solidFill>
                <a:latin typeface="Microsoft YaHei"/>
                <a:ea typeface="Microsoft YaHei"/>
              </a:rPr>
              <a:t>模型超时或额度耗尽时自动切换内置样例数据，保证演示现场零失误。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4105275" y="4905375"/>
            <a:ext cx="266700" cy="9525"/>
          </a:xfrm>
          <a:prstGeom prst="rect">
            <a:avLst/>
          </a:prstGeom>
          <a:solidFill>
            <a:srgbClr val="C8D3E2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86275" y="4810125"/>
            <a:ext cx="321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B7A90"/>
                </a:solidFill>
                <a:latin typeface="Microsoft YaHei"/>
                <a:ea typeface="Microsoft YaHei"/>
              </a:rPr>
              <a:t>技术不是炫技，是为了让农户</a:t>
            </a:r>
            <a:r>
              <a:rPr lang="en-US" sz="1275">
                <a:solidFill>
                  <a:srgbClr val="6B7A9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6B7A90"/>
                </a:solidFill>
                <a:latin typeface="Microsoft YaHei"/>
                <a:ea typeface="Microsoft YaHei"/>
              </a:rPr>
              <a:t>真的能用起来</a:t>
            </a:r>
            <a:r>
              <a:rPr lang="en-US" sz="1275">
                <a:solidFill>
                  <a:srgbClr val="6B7A9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820025" y="4905375"/>
            <a:ext cx="266700" cy="9525"/>
          </a:xfrm>
          <a:prstGeom prst="rect">
            <a:avLst/>
          </a:prstGeom>
          <a:solidFill>
            <a:srgbClr val="C8D3E2"/>
          </a:solidFill>
          <a:ln/>
        </p:spPr>
        <p:txBody>
          <a:bodyPr/>
          <a:p/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style={{ width: 1280, height: 720, background: '#0E3F8C', position: 'relative', padding: 0 }}&gt;&#10;    &lt;Box style={{ position: 'absolute', top: -80, right: -60, width: 460, height: 460, background: '#164C9E', borderRadius: 230 }} /&gt;&#10;    &lt;Box style={{ position: 'absolute', bottom: -120, right: 180, width: 320, height: 320, background: '#143F82', borderRadius: 160 }} /&gt;&#10;&#10;    &lt;Box style={{ position: 'relative', paddingTop: 240, paddingLeft: 120, flexDirection: 'column' }}&gt;&#10;        &lt;Text style={{ fontSize: 190, fontWeight: 'bold', color: '#2E6FC7', fontFamily: 'Times New Roman', lineHeight: 1, letterSpacing: 4 }}&gt;&#10;            04&#10;        &lt;/Text&gt;&#10;        &lt;Box style={{ width: 96, height: 5, background: '#FFFFFF', marginTop: 34, marginBottom: 30, borderRadius: 3 }} /&gt;&#10;        &lt;Text style={{ fontSize: 52, fontWeight: 'bold', color: '#FFFFFF', letterSpacing: 6 }}&gt;&#10;            系统实现与运行验证&#10;        &lt;/Text&gt;&#10;        &lt;Text style={{ fontSize: 20, color: '#9FC0E8', letterSpacing: 2, marginTop: 22, fontFamily: 'Times New Roman' }}&gt;&#10;            Implementation &amp; Online Verification&#10;        &lt;/Text&gt;&#10;        &lt;Text style={{ fontSize: 19, color: '#C5D8F0', marginTop: 34, letterSpacing: 1 }}&gt;&#10;            已经真实上线，所有数据来自线上实测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8382000" y="-762000"/>
            <a:ext cx="4381500" cy="4381500"/>
          </a:xfrm>
          <a:prstGeom prst="roundRect">
            <a:avLst>
              <a:gd name="adj" fmla="val 50000"/>
            </a:avLst>
          </a:prstGeom>
          <a:solidFill>
            <a:srgbClr val="164C9E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7429500" y="49530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143F82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43000" y="2286000"/>
            <a:ext cx="11049000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 spc="300">
                <a:solidFill>
                  <a:srgbClr val="2E6FC7"/>
                </a:solidFill>
                <a:latin typeface="Times New Roman"/>
                <a:ea typeface="Times New Roman"/>
              </a:rPr>
              <a:t>04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1143000" y="4781550"/>
            <a:ext cx="914400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43000" y="5114925"/>
            <a:ext cx="11049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450">
                <a:solidFill>
                  <a:srgbClr val="FFFFFF"/>
                </a:solidFill>
                <a:latin typeface="Microsoft YaHei"/>
                <a:ea typeface="Microsoft YaHei"/>
              </a:rPr>
              <a:t>系统实现与运行验证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43000" y="59245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FC0E8"/>
                </a:solidFill>
                <a:latin typeface="Times New Roman"/>
                <a:ea typeface="Times New Roman"/>
              </a:rPr>
              <a:t>Implementation &amp; Online Verification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43000" y="6477000"/>
            <a:ext cx="11049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75">
                <a:solidFill>
                  <a:srgbClr val="C5D8F0"/>
                </a:solidFill>
                <a:latin typeface="Microsoft YaHei"/>
                <a:ea typeface="Microsoft YaHei"/>
              </a:rPr>
              <a:t>已经真实上线，所有数据来自线上实测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33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2, paddingLeft: 96, paddingRight: 96, flexDirection: 'column' }}&gt;&#10;&#10;        {/* 页眉 */}&#10;        &lt;Box style={{ flexDirection: 'row', alignItems: 'center', gap: 16, marginBottom: 34 }}&gt;&#10;            &lt;Box style={{ width: 6, height: 32, background: '#1E4FA8', borderRadius: 3 }} /&gt;&#10;            &lt;Text style={{ fontSize: 32, fontWeight: 'bold', color: '#0E3F8C', letterSpacing: 2 }}&gt;线上运行实测数据&lt;/Text&gt;&#10;        &lt;/Box&gt;&#10;&#10;        {/* KPI 三联数 */}&#10;        &lt;Box style={{ flexDirection: 'row', alignItems: 'flex-end', justifyContent: 'center', marginBottom: 40 }}&gt;&#10;&#10;            &lt;Box style={{ width: 280, flexDirection: 'column', alignItems: 'center' }}&gt;&#10;                &lt;Text style={{ fontSize: 70, fontWeight: 'bold', color: '#0E3F8C', fontFamily: 'Times New Roman', lineHeight: 1 }}&gt;0.2&lt;/Text&gt;&#10;                &lt;Text style={{ fontSize: 17, color: '#1A2230', fontWeight: 'bold', marginTop: 12 }}&gt;秒 · 健康检查&lt;/Text&gt;&#10;                &lt;Text style={{ fontSize: 14, color: '#8B97A8', marginTop: 6 }}&gt;/api/health 响应&lt;/Text&gt;&#10;            &lt;/Box&gt;&#10;&#10;            &lt;Box style={{ width: 1, height: 84, background: '#D6DCE5' }} /&gt;&#10;&#10;            &lt;Box style={{ width: 280, flexDirection: 'column', alignItems: 'center' }}&gt;&#10;                &lt;Text style={{ fontSize: 70, fontWeight: 'bold', color: '#1E4FA8', fontFamily: 'Times New Roman', lineHeight: 1 }}&gt;2.25&lt;/Text&gt;&#10;                &lt;Text style={{ fontSize: 17, color: '#1A2230', fontWeight: 'bold', marginTop: 12 }}&gt;秒 · AI 识图&lt;/Text&gt;&#10;                &lt;Text style={{ fontSize: 14, color: '#8B97A8', marginTop: 6 }}&gt;真实模型调用耗时&lt;/Text&gt;&#10;            &lt;/Box&gt;&#10;&#10;            &lt;Box style={{ width: 1, height: 84, background: '#D6DCE5' }} /&gt;&#10;&#10;            &lt;Box style={{ width: 280, flexDirection: 'column', alignItems: 'center' }}&gt;&#10;                &lt;Text style={{ fontSize: 70, fontWeight: 'bold', color: '#D9534F', fontFamily: 'Times New Roman', lineHeight: 1 }}&gt;30&lt;/Text&gt;&#10;                &lt;Text style={{ fontSize: 17, color: '#1A2230', fontWeight: 'bold', marginTop: 12 }}&gt;秒内 · 五件套&lt;/Text&gt;&#10;                &lt;Text style={{ fontSize: 14, color: '#8B97A8', marginTop: 6 }}&gt;端到端生成完成&lt;/Text&gt;&#10;            &lt;/Box&gt;&#10;&#10;        &lt;/Box&gt;&#10;&#10;        {/* 验证清单 */}&#10;        &lt;Box style={{ background: '#F5F8FD', borderRadius: 12, paddingTop: 24, paddingBottom: 24, paddingLeft: 32, paddingRight: 32, flexDirection: 'column' }}&gt;&#10;            &lt;Text style={{ fontSize: 18, color: '#0E3F8C', fontWeight: 'bold', marginBottom: 16 }}&gt;已完成的线上验证项&lt;/Text&gt;&#10;&#10;            &lt;Box style={{ flexDirection: 'column', gap: 12 }}&gt;&#10;                &lt;Box style={{ flexDirection: 'row', gap: 12, alignItems: 'center' }}&gt;&#10;                    &lt;Box style={{ width: 20, height: 20, background: '#1E4FA8', borderRadius: 10, alignItems: 'center', justifyContent: 'center' }}&gt;&#10;                        &lt;Text style={{ fontSize: 12, color: '#FFFFFF', fontWeight: 'bold' }}&gt;✓&lt;/Text&gt;&#10;                    &lt;/Box&gt;&#10;                    &lt;Text style={{ fontSize: 16, color: '#3A4658' }}&gt;微信云托管部署成功，公网可访问，无需本地环境&lt;/Text&gt;&#10;                &lt;/Box&gt;&#10;&#10;                &lt;Box style={{ flexDirection: 'row', gap: 12, alignItems: 'center' }}&gt;&#10;                    &lt;Box style={{ width: 20, height: 20, background: '#1E4FA8', borderRadius: 10, alignItems: 'center', justifyContent: 'center' }}&gt;&#10;                        &lt;Text style={{ fontSize: 12, color: '#FFFFFF', fontWeight: 'bold' }}&gt;✓&lt;/Text&gt;&#10;                    &lt;/Box&gt;&#10;                    &lt;Text style={{ fontSize: 16, color: '#3A4658' }}&gt;容器出网正常，可真实调用智谱 GLM 多模态模型（demo 标识为 false）&lt;/Text&gt;&#10;                &lt;/Box&gt;&#10;&#10;                &lt;Box style={{ flexDirection: 'row', gap: 12, alignItems: 'center' }}&gt;&#10;                    &lt;Box style={{ width: 20, height: 20, background: '#1E4FA8', borderRadius: 10, alignItems: 'center', justifyContent: 'center' }}&gt;&#10;                        &lt;Text style={{ fontSize: 12, color: '#FFFFFF', fontWeight: 'bold' }}&gt;✓&lt;/Text&gt;&#10;                    &lt;/Box&gt;&#10;                    &lt;Text style={{ fontSize: 16, color: '#3A4658' }}&gt;小程序端与 H5 网页端双端实测通过，接口数据一致&lt;/Text&gt;&#10;                &lt;/Box&gt;&#10;&#10;                &lt;Box style={{ flexDirection: 'row', gap: 12, alignItems: 'center' }}&gt;&#10;                    &lt;Box style={{ width: 20, height: 20, background: '#1E4FA8', borderRadius: 10, alignItems: 'center', justifyContent: 'center' }}&gt;&#10;                        &lt;Text style={{ fontSize: 12, color: '#FFFFFF', fontWeight: 'bold' }}&gt;✓&lt;/Text&gt;&#10;                    &lt;/Box&gt;&#10;                    &lt;Text style={{ fontSize: 16, color: '#3A4658' }}&gt;注册登录、生成历史、五件套下载全流程走通&lt;/Text&gt;&#10;                &lt;/Box&gt;&#10;            &lt;/Box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914400" y="628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3950" y="590550"/>
            <a:ext cx="2590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线上运行实测数据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000375" y="1285875"/>
            <a:ext cx="838200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250" b="1">
                <a:solidFill>
                  <a:srgbClr val="0E3F8C"/>
                </a:solidFill>
                <a:latin typeface="Times New Roman"/>
                <a:ea typeface="Times New Roman"/>
              </a:rPr>
              <a:t>0.2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2933700" y="2200275"/>
            <a:ext cx="981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健康检查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2914650" y="2457450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/api/health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响应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4752975" y="1819275"/>
            <a:ext cx="9525" cy="800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514975" y="1285875"/>
            <a:ext cx="1171575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250" b="1">
                <a:solidFill>
                  <a:srgbClr val="1E4FA8"/>
                </a:solidFill>
                <a:latin typeface="Times New Roman"/>
                <a:ea typeface="Times New Roman"/>
              </a:rPr>
              <a:t>2.25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657850" y="22002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识图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562600" y="24574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真实模型调用耗时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7429500" y="1819275"/>
            <a:ext cx="9525" cy="800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439150" y="1285875"/>
            <a:ext cx="666750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250" b="1">
                <a:solidFill>
                  <a:srgbClr val="D9534F"/>
                </a:solidFill>
                <a:latin typeface="Times New Roman"/>
                <a:ea typeface="Times New Roman"/>
              </a:rPr>
              <a:t>30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286750" y="2200275"/>
            <a:ext cx="981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秒内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五件套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305800" y="24574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端到端生成完成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914400" y="3000375"/>
            <a:ext cx="10363200" cy="1924050"/>
          </a:xfrm>
          <a:prstGeom prst="roundRect">
            <a:avLst>
              <a:gd name="adj" fmla="val 5941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219200" y="3228975"/>
            <a:ext cx="975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已完成的线上验证项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1219200" y="35909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257300" y="36195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524000" y="35909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微信云托管部署成功，公网可访问，无需本地环境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1219200" y="38957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257300" y="39243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524000" y="3895725"/>
            <a:ext cx="4943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容器出网正常，可真实调用智谱</a:t>
            </a:r>
            <a:r>
              <a:rPr lang="en-US" sz="1200">
                <a:solidFill>
                  <a:srgbClr val="3A4658"/>
                </a:solidFill>
                <a:latin typeface="Microsoft YaHei"/>
                <a:ea typeface="Microsoft YaHei"/>
              </a:rPr>
              <a:t xml:space="preserve"> GLM </a:t>
            </a: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多模态模型（</a:t>
            </a:r>
            <a:r>
              <a:rPr lang="en-US" sz="1200">
                <a:solidFill>
                  <a:srgbClr val="3A4658"/>
                </a:solidFill>
                <a:latin typeface="Microsoft YaHei"/>
                <a:ea typeface="Microsoft YaHei"/>
              </a:rPr>
              <a:t xml:space="preserve">demo </a:t>
            </a: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标识为</a:t>
            </a:r>
            <a:r>
              <a:rPr lang="en-US" sz="1200">
                <a:solidFill>
                  <a:srgbClr val="3A4658"/>
                </a:solidFill>
                <a:latin typeface="Microsoft YaHei"/>
                <a:ea typeface="Microsoft YaHei"/>
              </a:rPr>
              <a:t xml:space="preserve"> false</a:t>
            </a: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1219200" y="4200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257300" y="42291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524000" y="4200525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小程序端与</a:t>
            </a:r>
            <a:r>
              <a:rPr lang="en-US" sz="1200">
                <a:solidFill>
                  <a:srgbClr val="3A4658"/>
                </a:solidFill>
                <a:latin typeface="Microsoft YaHei"/>
                <a:ea typeface="Microsoft YaHei"/>
              </a:rPr>
              <a:t xml:space="preserve"> H5 </a:t>
            </a: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网页端双端实测通过，接口数据一致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1219200" y="45053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257300" y="45339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524000" y="45053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658"/>
                </a:solidFill>
                <a:latin typeface="Microsoft YaHei"/>
                <a:ea typeface="Microsoft YaHei"/>
              </a:rPr>
              <a:t>注册登录、生成历史、五件套下载全流程走通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62, paddingLeft: 96, paddingRight: 96, flexDirection: 'column' }}&gt;&#10;&#10;        {/* 页眉 */}&#10;        &lt;Box style={{ flexDirection: 'row', alignItems: 'center', gap: 16, marginBottom: 30 }}&gt;&#10;            &lt;Box style={{ width: 6, height: 32, background: '#1E4FA8', borderRadius: 3 }} /&gt;&#10;            &lt;Text style={{ fontSize: 32, fontWeight: 'bold', color: '#0E3F8C', letterSpacing: 2 }}&gt;现场演示：六步走完全流程&lt;/Text&gt;&#10;        &lt;/Box&gt;&#10;&#10;        {/* 演示路线 */}&#10;        &lt;Box style={{ flexDirection: 'row', flexWrap: 'wrap', gap: 18, marginBottom: 26 }}&gt;&#10;&#10;            &lt;Box style={{ width: 520, flexDirection: 'row', alignItems: 'center', gap: 16, background: '#F5F8FD', borderRadius: 10, paddingTop: 18, paddingBottom: 18, paddingLeft: 22, paddingRight: 22 }}&gt;&#10;                &lt;Box style={{ width: 40, height: 40, background: '#1E4FA8', borderRadius: 20, alignItems: 'center', justifyContent: 'center' }}&gt;&#10;                    &lt;Text style={{ fontSize: 18, color: '#FFFFFF', fontWeight: 'bold' }}&gt;1&lt;/Text&gt;&#10;                &lt;/Box&gt;&#10;                &lt;Box style={{ flexDirection: 'column', gap: 4 }}&gt;&#10;                    &lt;Text style={{ fontSize: 19, fontWeight: 'bold', color: '#1A2230' }}&gt;打开小程序 / 网页&lt;/Text&gt;&#10;                    &lt;Text style={{ fontSize: 14, color: '#6B7A90' }}&gt;展示首页与作品入口&lt;/Text&gt;&#10;                &lt;/Box&gt;&#10;            &lt;/Box&gt;&#10;&#10;            &lt;Box style={{ width: 520, flexDirection: 'row', alignItems: 'center', gap: 16, background: '#F5F8FD', borderRadius: 10, paddingTop: 18, paddingBottom: 18, paddingLeft: 22, paddingRight: 22 }}&gt;&#10;                &lt;Box style={{ width: 40, height: 40, background: '#2E6FC7', borderRadius: 20, alignItems: 'center', justifyContent: 'center' }}&gt;&#10;                    &lt;Text style={{ fontSize: 18, color: '#FFFFFF', fontWeight: 'bold' }}&gt;2&lt;/Text&gt;&#10;                &lt;/Box&gt;&#10;                &lt;Box style={{ flexDirection: 'column', gap: 4 }}&gt;&#10;                    &lt;Text style={{ fontSize: 19, fontWeight: 'bold', color: '#1A2230' }}&gt;注册 / 登录&lt;/Text&gt;&#10;                    &lt;Text style={{ fontSize: 14, color: '#6B7A90' }}&gt;演示账号体系与历史记录&lt;/Text&gt;&#10;                &lt;/Box&gt;&#10;            &lt;/Box&gt;&#10;&#10;            &lt;Box style={{ width: 520, flexDirection: 'row', alignItems: 'center', gap: 16, background: '#F5F8FD', borderRadius: 10, paddingTop: 18, paddingBottom: 18, paddingLeft: 22, paddingRight: 22 }}&gt;&#10;                &lt;Box style={{ width: 40, height: 40, background: '#3D7BD9', borderRadius: 20, alignItems: 'center', justifyContent: 'center' }}&gt;&#10;                    &lt;Text style={{ fontSize: 18, color: '#FFFFFF', fontWeight: 'bold' }}&gt;3&lt;/Text&gt;&#10;                &lt;/Box&gt;&#10;                &lt;Box style={{ flexDirection: 'column', gap: 4 }}&gt;&#10;                    &lt;Text style={{ fontSize: 19, fontWeight: 'bold', color: '#1A2230' }}&gt;拍照上传山货&lt;/Text&gt;&#10;                    &lt;Text style={{ fontSize: 14, color: '#6B7A90' }}&gt;现场用手机拍一张实拍图&lt;/Text&gt;&#10;                &lt;/Box&gt;&#10;            &lt;/Box&gt;&#10;&#10;            &lt;Box style={{ width: 520, flexDirection: 'row', alignItems: 'center', gap: 16, background: '#F5F8FD', borderRadius: 10, paddingTop: 18, paddingBottom: 18, paddingLeft: 22, paddingRight: 22 }}&gt;&#10;                &lt;Box style={{ width: 40, height: 40, background: '#4A8CE0', borderRadius: 20, alignItems: 'center', justifyContent: 'center' }}&gt;&#10;                    &lt;Text style={{ fontSize: 18, color: '#FFFFFF', fontWeight: 'bold' }}&gt;4&lt;/Text&gt;&#10;                &lt;/Box&gt;&#10;                &lt;Box style={{ flexDirection: 'column', gap: 4 }}&gt;&#10;                    &lt;Text style={{ fontSize: 19, fontWeight: 'bold', color: '#1A2230' }}&gt;AI 识别建档&lt;/Text&gt;&#10;                    &lt;Text style={{ fontSize: 14, color: '#6B7A90' }}&gt;展示结构化识别结果&lt;/Text&gt;&#10;                &lt;/Box&gt;&#10;            &lt;/Box&gt;&#10;&#10;            &lt;Box style={{ width: 520, flexDirection: 'row', alignItems: 'center', gap: 16, background: '#F5F8FD', borderRadius: 10, paddingTop: 18, paddingBottom: 18, paddingLeft: 22, paddingRight: 22 }}&gt;&#10;                &lt;Box style={{ width: 40, height: 40, background: '#0E3F8C', borderRadius: 20, alignItems: 'center', justifyContent: 'center' }}&gt;&#10;                    &lt;Text style={{ fontSize: 18, color: '#FFFFFF', fontWeight: 'bold' }}&gt;5&lt;/Text&gt;&#10;                &lt;/Box&gt;&#10;                &lt;Box style={{ flexDirection: 'column', gap: 4 }}&gt;&#10;                    &lt;Text style={{ fontSize: 19, fontWeight: 'bold', color: '#1A2230' }}&gt;生成五件套&lt;/Text&gt;&#10;                    &lt;Text style={{ fontSize: 14, color: '#6B7A90' }}&gt;文案 / 海报 / 语音 / 脚本 / 定价&lt;/Text&gt;&#10;                &lt;/Box&gt;&#10;            &lt;/Box&gt;&#10;&#10;            &lt;Box style={{ width: 520, flexDirection: 'row', alignItems: 'center', gap: 16, background: '#FDF8F7', borderRadius: 10, paddingTop: 18, paddingBottom: 18, paddingLeft: 22, paddingRight: 22 }}&gt;&#10;                &lt;Box style={{ width: 40, height: 40, background: '#D9534F', borderRadius: 20, alignItems: 'center', justifyContent: 'center' }}&gt;&#10;                    &lt;Text style={{ fontSize: 18, color: '#FFFFFF', fontWeight: 'bold' }}&gt;6&lt;/Text&gt;&#10;                &lt;/Box&gt;&#10;                &lt;Box style={{ flexDirection: 'column', gap: 4 }}&gt;&#10;                    &lt;Text style={{ fontSize: 19, fontWeight: 'bold', color: '#B3413D' }}&gt;播放语音 / 下载海报&lt;/Text&gt;&#10;                    &lt;Text style={{ fontSize: 14, color: '#6B5A59' }}&gt;现场听讲解、看成品&lt;/Text&gt;&#10;                &lt;/Box&gt;&#10;            &lt;/Box&gt;&#10;&#10;        &lt;/Box&gt;&#10;&#10;        {/* 提示条 */}&#10;        &lt;Box style={{ flexDirection: 'row', alignItems: 'center', gap: 12, justifyContent: 'center', marginTop: 8 }}&gt;&#10;            &lt;Box style={{ width: 6, height: 6, background: '#D9534F', borderRadius: 3 }} /&gt;&#10;            &lt;Text style={{ fontSize: 17, color: '#0E3F8C', fontWeight: 600 }}&gt;&#10;                演示全程使用线上环境，模型不可用时自动降级，保证零失误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914400" y="628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23950" y="590550"/>
            <a:ext cx="3886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现场演示：六步走完全流程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914400" y="1247775"/>
            <a:ext cx="4953000" cy="762000"/>
          </a:xfrm>
          <a:prstGeom prst="roundRect">
            <a:avLst>
              <a:gd name="adj" fmla="val 12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1123950" y="14382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257300" y="15240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657350" y="1419225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打开小程序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网页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657350" y="16764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展示首页与作品入口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38850" y="1247775"/>
            <a:ext cx="4953000" cy="762000"/>
          </a:xfrm>
          <a:prstGeom prst="roundRect">
            <a:avLst>
              <a:gd name="adj" fmla="val 12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248400" y="14382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E6FC7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381750" y="15240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781800" y="1419225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注册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登录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781800" y="16764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演示账号体系与历史记录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914400" y="2181225"/>
            <a:ext cx="4953000" cy="762000"/>
          </a:xfrm>
          <a:prstGeom prst="roundRect">
            <a:avLst>
              <a:gd name="adj" fmla="val 12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1123950" y="2371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257300" y="2457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657350" y="2352675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拍照上传山货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657350" y="260985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现场用手机拍一张实拍图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38850" y="2181225"/>
            <a:ext cx="4953000" cy="762000"/>
          </a:xfrm>
          <a:prstGeom prst="roundRect">
            <a:avLst>
              <a:gd name="adj" fmla="val 12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6248400" y="23717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A8CE0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381750" y="2457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781800" y="2352675"/>
            <a:ext cx="1200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识别建档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781800" y="26098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展示结构化识别结果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914400" y="3114675"/>
            <a:ext cx="4953000" cy="762000"/>
          </a:xfrm>
          <a:prstGeom prst="roundRect">
            <a:avLst>
              <a:gd name="adj" fmla="val 12500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1123950" y="33051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257300" y="33909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657350" y="3286125"/>
            <a:ext cx="1885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生成五件套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657350" y="35433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文案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海报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语音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脚本</a:t>
            </a:r>
            <a:r>
              <a:rPr lang="en-US" sz="1050">
                <a:solidFill>
                  <a:srgbClr val="6B7A9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6B7A90"/>
                </a:solidFill>
                <a:latin typeface="Microsoft YaHei"/>
                <a:ea typeface="Microsoft YaHei"/>
              </a:rPr>
              <a:t>定价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38850" y="3114675"/>
            <a:ext cx="4953000" cy="762000"/>
          </a:xfrm>
          <a:prstGeom prst="roundRect">
            <a:avLst>
              <a:gd name="adj" fmla="val 12500"/>
            </a:avLst>
          </a:prstGeom>
          <a:solidFill>
            <a:srgbClr val="FDF8F7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6248400" y="33051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381750" y="33909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781800" y="3286125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3413D"/>
                </a:solidFill>
                <a:latin typeface="Microsoft YaHei"/>
                <a:ea typeface="Microsoft YaHei"/>
              </a:rPr>
              <a:t>播放语音</a:t>
            </a:r>
            <a:r>
              <a:rPr lang="en-US" sz="1425" b="1">
                <a:solidFill>
                  <a:srgbClr val="B3413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B3413D"/>
                </a:solidFill>
                <a:latin typeface="Microsoft YaHei"/>
                <a:ea typeface="Microsoft YaHei"/>
              </a:rPr>
              <a:t>下载海报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781800" y="3543300"/>
            <a:ext cx="164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5A59"/>
                </a:solidFill>
                <a:latin typeface="Microsoft YaHei"/>
                <a:ea typeface="Microsoft YaHei"/>
              </a:rPr>
              <a:t>现场听讲解、看成品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3829050" y="42767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000500" y="420052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演示全程使用线上环境，模型不可用时自动降级，保证零失误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2" name="" descr="&lt;Slide style={{ width: 1280, height: 720, background: '#FFFFFF', position: 'relative', padding: 0 }}&gt;&#10;    &lt;Box style={{ position: 'absolute', top: 0, left: 0, width: 1280, height: 8, background: '#1E4FA8' }} /&gt;&#10;    &lt;Box style={{ position: 'absolute', top: 0, left: 0, width: 14, height: 720, background: '#0E3F8C' }} /&gt;&#10;&#10;    &lt;Box style={{ position: 'relative', paddingTop: 58, paddingLeft: 96, paddingRight: 96, flexDirection: 'column' }}&gt;&#10;&#10;        {/* 页眉 */}&#10;        &lt;Box style={{ flexDirection: 'row', alignItems: 'center', gap: 16, marginBottom: 26 }}&gt;&#10;            &lt;Box style={{ width: 6, height: 32, background: '#1E4FA8', borderRadius: 3 }} /&gt;&#10;            &lt;Text style={{ fontSize: 32, fontWeight: 'bold', color: '#0E3F8C', letterSpacing: 2 }}&gt;创新点与价值&lt;/Text&gt;&#10;        &lt;/Box&gt;&#10;&#10;        {/* 五个创新点 */}&#10;        &lt;Box style={{ flexDirection: 'column', gap: 12, marginBottom: 26 }}&gt;&#10;&#10;            &lt;Box style={{ flexDirection: 'row', alignItems: 'center', gap: 16, background: '#F5F8FD', borderRadius: 9, paddingTop: 14, paddingBottom: 14, paddingLeft: 24, paddingRight: 24 }}&gt;&#10;                &lt;Text style={{ fontSize: 15, fontWeight: 'bold', color: '#FFFFFF', background: '#1E4FA8', borderRadius: 4, paddingLeft: 9, paddingRight: 9, paddingTop: 3, paddingBottom: 3 }}&gt;创新点 1&lt;/Text&gt;&#10;                &lt;Text style={{ fontSize: 17, color: '#1A2230', fontWeight: 600 }}&gt;&quot;AI 底图 + 本地排版&quot;中文海报方案&lt;/Text&gt;&#10;                &lt;Text style={{ fontSize: 15, color: '#8B97A8' }}&gt;解决文生图中文乱码行业难题&lt;/Text&gt;&#10;            &lt;/Box&gt;&#10;&#10;            &lt;Box style={{ flexDirection: 'row', alignItems: 'center', gap: 16, background: '#F5F8FD', borderRadius: 9, paddingTop: 14, paddingBottom: 14, paddingLeft: 24, paddingRight: 24 }}&gt;&#10;                &lt;Text style={{ fontSize: 15, fontWeight: 'bold', color: '#FFFFFF', background: '#2E6FC7', borderRadius: 4, paddingLeft: 9, paddingRight: 9, paddingTop: 3, paddingBottom: 3 }}&gt;创新点 2&lt;/Text&gt;&#10;                &lt;Text style={{ fontSize: 17, color: '#1A2230', fontWeight: 600 }}&gt;五件套一站式并行生成&lt;/Text&gt;&#10;                &lt;Text style={{ fontSize: 15, color: '#8B97A8' }}&gt;从素材到定价，覆盖营销全链路&lt;/Text&gt;&#10;            &lt;/Box&gt;&#10;&#10;            &lt;Box style={{ flexDirection: 'row', alignItems: 'center', gap: 16, background: '#F5F8FD', borderRadius: 9, paddingTop: 14, paddingBottom: 14, paddingLeft: 24, paddingRight: 24 }}&gt;&#10;                &lt;Text style={{ fontSize: 15, fontWeight: 'bold', color: '#FFFFFF', background: '#3D7BD9', borderRadius: 4, paddingLeft: 9, paddingRight: 9, paddingTop: 3, paddingBottom: 3 }}&gt;创新点 3&lt;/Text&gt;&#10;                &lt;Text style={{ fontSize: 17, color: '#1A2230', fontWeight: 600 }}&gt;多厂商可插拔模型网关&lt;/Text&gt;&#10;                &lt;Text style={{ fontSize: 15, color: '#8B97A8' }}&gt;一套代码适配多家，不锁定厂商&lt;/Text&gt;&#10;            &lt;/Box&gt;&#10;&#10;            &lt;Box style={{ flexDirection: 'row', alignItems: 'center', gap: 16, background: '#F5F8FD', borderRadius: 9, paddingTop: 14, paddingBottom: 14, paddingLeft: 24, paddingRight: 24 }}&gt;&#10;                &lt;Text style={{ fontSize: 15, fontWeight: 'bold', color: '#FFFFFF', background: '#4A8CE0', borderRadius: 4, paddingLeft: 9, paddingRight: 9, paddingTop: 3, paddingBottom: 3 }}&gt;创新点 4&lt;/Text&gt;&#10;                &lt;Text style={{ fontSize: 17, color: '#1A2230', fontWeight: 600 }}&gt;双端同源，小程序 + 网页共用后端&lt;/Text&gt;&#10;                &lt;Text style={{ fontSize: 15, color: '#8B97A8' }}&gt;农户与游客各自最优触达方式&lt;/Text&gt;&#10;            &lt;/Box&gt;&#10;&#10;            &lt;Box style={{ flexDirection: 'row', alignItems: 'center', gap: 16, background: '#FDF8F7', borderRadius: 9, paddingTop: 14, paddingBottom: 14, paddingLeft: 24, paddingRight: 24 }}&gt;&#10;                &lt;Text style={{ fontSize: 15, fontWeight: 'bold', color: '#FFFFFF', background: '#D9534F', borderRadius: 4, paddingLeft: 9, paddingRight: 9, paddingTop: 3, paddingBottom: 3 }}&gt;创新点 5&lt;/Text&gt;&#10;                &lt;Text style={{ fontSize: 17, color: '#B3413D', fontWeight: 600 }}&gt;定价决策延伸：从帮吆喝，到帮算账&lt;/Text&gt;&#10;                &lt;Text style={{ fontSize: 15, color: '#6B5A59' }}&gt;不止做宣传，更帮农户把钱算明白&lt;/Text&gt;&#10;            &lt;/Box&gt;&#10;&#10;        &lt;/Box&gt;&#10;&#10;        {/* 三方价值 */}&#10;        &lt;Box style={{ flexDirection: 'row', gap: 20 }}&gt;&#10;&#10;            &lt;Box style={{ width: 340, background: '#EAF1FB', borderRadius: 10, paddingTop: 18, paddingBottom: 18, paddingLeft: 22, paddingRight: 22, flexDirection: 'column' }}&gt;&#10;                &lt;Text style={{ fontSize: 18, fontWeight: 'bold', color: '#0E3F8C', marginBottom: 8 }}&gt;对农户&lt;/Text&gt;&#10;                &lt;Text style={{ fontSize: 15, color: '#4A5568', lineHeight: 1.65 }}&gt;零成本获得专业级营销素材，好货卖出好价钱&lt;/Text&gt;&#10;            &lt;/Box&gt;&#10;&#10;            &lt;Box style={{ width: 340, background: '#EAF1FB', borderRadius: 10, paddingTop: 18, paddingBottom: 18, paddingLeft: 22, paddingRight: 22, flexDirection: 'column' }}&gt;&#10;                &lt;Text style={{ fontSize: 18, fontWeight: 'bold', color: '#0E3F8C', marginBottom: 8 }}&gt;对县域文旅&lt;/Text&gt;&#10;                &lt;Text style={{ fontSize: 15, color: '#4A5568', lineHeight: 1.65 }}&gt;低成本补齐讲解能力，村落故事可长期留存复用&lt;/Text&gt;&#10;            &lt;/Box&gt;&#10;&#10;            &lt;Box style={{ width: 340, background: '#EAF1FB', borderRadius: 10, paddingTop: 18, paddingBottom: 18, paddingLeft: 22, paddingRight: 22, flexDirection: 'column' }}&gt;&#10;                &lt;Text style={{ fontSize: 18, fontWeight: 'bold', color: '#0E3F8C', marginBottom: 8 }}&gt;对时代命题&lt;/Text&gt;&#10;                &lt;Text style={{ fontSize: 15, color: '#4A5568', lineHeight: 1.65 }}&gt;以 AI 降低门槛，让数字技术真正下沉到乡村&lt;/Text&gt;&#10;            &lt;/Box&gt;&#10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0" y="0"/>
            <a:ext cx="1333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914400" y="5905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23950" y="552450"/>
            <a:ext cx="1943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150">
                <a:solidFill>
                  <a:srgbClr val="0E3F8C"/>
                </a:solidFill>
                <a:latin typeface="Microsoft YaHei"/>
                <a:ea typeface="Microsoft YaHei"/>
              </a:rPr>
              <a:t>创新点与价值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914400" y="1171575"/>
            <a:ext cx="10363200" cy="495300"/>
          </a:xfrm>
          <a:prstGeom prst="roundRect">
            <a:avLst>
              <a:gd name="adj" fmla="val 17308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1143000" y="1304925"/>
            <a:ext cx="733425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43000" y="1304925"/>
            <a:ext cx="733425" cy="22860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创新点</a:t>
            </a:r>
            <a:r>
              <a:rPr lang="en-US" sz="1125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2028825" y="1323975"/>
            <a:ext cx="2562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"AI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底图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本地排版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中文海报方案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743450" y="13335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解决文生图中文乱码行业难题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914400" y="1781175"/>
            <a:ext cx="10363200" cy="495300"/>
          </a:xfrm>
          <a:prstGeom prst="roundRect">
            <a:avLst>
              <a:gd name="adj" fmla="val 17308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1143000" y="1914525"/>
            <a:ext cx="733425" cy="2286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43000" y="1914525"/>
            <a:ext cx="733425" cy="22860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2E6FC7"/>
                </a:highlight>
                <a:latin typeface="Microsoft YaHei"/>
                <a:ea typeface="Microsoft YaHei"/>
              </a:rPr>
              <a:t>创新点</a:t>
            </a:r>
            <a:r>
              <a:rPr lang="en-US" sz="1125" b="1">
                <a:solidFill>
                  <a:srgbClr val="FFFFFF"/>
                </a:solidFill>
                <a:highlight>
                  <a:srgbClr val="2E6FC7"/>
                </a:highlight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2028825" y="19335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五件套一站式并行生成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800475" y="19431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从素材到定价，覆盖营销全链路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914400" y="2390775"/>
            <a:ext cx="10363200" cy="495300"/>
          </a:xfrm>
          <a:prstGeom prst="roundRect">
            <a:avLst>
              <a:gd name="adj" fmla="val 17308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1143000" y="2524125"/>
            <a:ext cx="733425" cy="228600"/>
          </a:xfrm>
          <a:prstGeom prst="roundRect">
            <a:avLst>
              <a:gd name="adj" fmla="val 16667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43000" y="2524125"/>
            <a:ext cx="733425" cy="22860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3D7BD9"/>
                </a:highlight>
                <a:latin typeface="Microsoft YaHei"/>
                <a:ea typeface="Microsoft YaHei"/>
              </a:rPr>
              <a:t>创新点</a:t>
            </a:r>
            <a:r>
              <a:rPr lang="en-US" sz="1125" b="1">
                <a:solidFill>
                  <a:srgbClr val="FFFFFF"/>
                </a:solidFill>
                <a:highlight>
                  <a:srgbClr val="3D7BD9"/>
                </a:highlight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028825" y="25431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多厂商可插拔模型网关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00475" y="25527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一套代码适配多家，不锁定厂商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914400" y="3000375"/>
            <a:ext cx="10363200" cy="495300"/>
          </a:xfrm>
          <a:prstGeom prst="roundRect">
            <a:avLst>
              <a:gd name="adj" fmla="val 17308"/>
            </a:avLst>
          </a:prstGeom>
          <a:solidFill>
            <a:srgbClr val="F5F8FD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1143000" y="3133725"/>
            <a:ext cx="733425" cy="228600"/>
          </a:xfrm>
          <a:prstGeom prst="roundRect">
            <a:avLst>
              <a:gd name="adj" fmla="val 16667"/>
            </a:avLst>
          </a:prstGeom>
          <a:solidFill>
            <a:srgbClr val="4A8CE0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43000" y="3133725"/>
            <a:ext cx="733425" cy="22860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4A8CE0"/>
                </a:highlight>
                <a:latin typeface="Microsoft YaHei"/>
                <a:ea typeface="Microsoft YaHei"/>
              </a:rPr>
              <a:t>创新点</a:t>
            </a:r>
            <a:r>
              <a:rPr lang="en-US" sz="1125" b="1">
                <a:solidFill>
                  <a:srgbClr val="FFFFFF"/>
                </a:solidFill>
                <a:highlight>
                  <a:srgbClr val="4A8CE0"/>
                </a:highlight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028825" y="3152775"/>
            <a:ext cx="2495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双端同源，小程序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网页共用后端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676775" y="31623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农户与游客各自最优触达方式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914400" y="3609975"/>
            <a:ext cx="10363200" cy="495300"/>
          </a:xfrm>
          <a:prstGeom prst="roundRect">
            <a:avLst>
              <a:gd name="adj" fmla="val 17308"/>
            </a:avLst>
          </a:prstGeom>
          <a:solidFill>
            <a:srgbClr val="FDF8F7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1143000" y="3743325"/>
            <a:ext cx="733425" cy="228600"/>
          </a:xfrm>
          <a:prstGeom prst="roundRect">
            <a:avLst>
              <a:gd name="adj" fmla="val 1666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43000" y="3743325"/>
            <a:ext cx="733425" cy="228600"/>
          </a:xfrm>
          <a:prstGeom prst="rect"/>
        </p:spPr>
        <p:txBody>
          <a:bodyPr wrap="none" lIns="64294" tIns="21431" rIns="64294" bIns="21431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D9534F"/>
                </a:highlight>
                <a:latin typeface="Microsoft YaHei"/>
                <a:ea typeface="Microsoft YaHei"/>
              </a:rPr>
              <a:t>创新点</a:t>
            </a:r>
            <a:r>
              <a:rPr lang="en-US" sz="1125" b="1">
                <a:solidFill>
                  <a:srgbClr val="FFFFFF"/>
                </a:solidFill>
                <a:highlight>
                  <a:srgbClr val="D9534F"/>
                </a:highlight>
                <a:latin typeface="Microsoft YaHei"/>
                <a:ea typeface="Microsoft YaHei"/>
              </a:rPr>
              <a:t xml:space="preserve"> 5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2028825" y="37623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3413D"/>
                </a:solidFill>
                <a:latin typeface="Microsoft YaHei"/>
                <a:ea typeface="Microsoft YaHei"/>
              </a:rPr>
              <a:t>定价决策延伸：从帮吆喝，到帮算账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772025" y="37719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5A59"/>
                </a:solidFill>
                <a:latin typeface="Microsoft YaHei"/>
                <a:ea typeface="Microsoft YaHei"/>
              </a:rPr>
              <a:t>不止做宣传，更帮农户把钱算明白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914400" y="4352925"/>
            <a:ext cx="3238500" cy="1200150"/>
          </a:xfrm>
          <a:prstGeom prst="roundRect">
            <a:avLst>
              <a:gd name="adj" fmla="val 7937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23950" y="4524375"/>
            <a:ext cx="281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对农户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23950" y="4810125"/>
            <a:ext cx="2819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零成本获得专业级营销素材，好货卖出好价钱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4343400" y="4352925"/>
            <a:ext cx="3238500" cy="1200150"/>
          </a:xfrm>
          <a:prstGeom prst="roundRect">
            <a:avLst>
              <a:gd name="adj" fmla="val 7937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552950" y="4524375"/>
            <a:ext cx="281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对县域文旅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552950" y="4810125"/>
            <a:ext cx="2819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低成本补齐讲解能力，村落故事可长期留存复用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772400" y="4352925"/>
            <a:ext cx="3238500" cy="1200150"/>
          </a:xfrm>
          <a:prstGeom prst="roundRect">
            <a:avLst>
              <a:gd name="adj" fmla="val 7937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981950" y="4524375"/>
            <a:ext cx="2819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对时代命题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981950" y="4810125"/>
            <a:ext cx="28194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降低门槛，让数字技术真正下沉到乡村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2" name="" descr="&lt;Slide style={{ width: 1280, height: 720, background: '#0E3F8C', position: 'relative', padding: 0 }}&gt;&#10;    {/* 背景几何装饰 */}&#10;    &lt;Box style={{ position: 'absolute', top: -100, right: -80, width: 480, height: 480, background: '#164C9E', borderRadius: 240 }} /&gt;&#10;    &lt;Box style={{ position: 'absolute', bottom: -140, left: -60, width: 400, height: 400, background: '#143F82', borderRadius: 200 }} /&gt;&#10;    &lt;Box style={{ position: 'absolute', top: 0, left: 0, width: 1280, height: 6, background: '#2E6FC7' }} /&gt;&#10;&#10;    &lt;Box style={{ position: 'relative', paddingTop: 130, paddingLeft: 120, paddingRight: 120, flexDirection: 'column', alignItems: 'center' }}&gt;&#10;&#10;        {/* 顶部小标 */}&#10;        &lt;Box style={{ flexDirection: 'row', alignItems: 'center', gap: 14, marginBottom: 40 }}&gt;&#10;            &lt;Box style={{ width: 44, height: 4, background: '#2E6FC7' }} /&gt;&#10;            &lt;Text style={{ fontSize: 17, color: '#9FC0E8', letterSpacing: 4 }}&gt;THANK YOU FOR LISTENING&lt;/Text&gt;&#10;            &lt;Box style={{ width: 44, height: 4, background: '#2E6FC7' }} /&gt;&#10;        &lt;/Box&gt;&#10;&#10;        {/* 主感谢 */}&#10;        &lt;Text style={{ fontSize: 68, fontWeight: 'bold', color: '#FFFFFF', letterSpacing: 8 }}&gt;&#10;            感 谢 聆 听&#10;        &lt;/Text&gt;&#10;&#10;        {/* 金句 */}&#10;        &lt;Box style={{ flexDirection: 'row', alignItems: 'center', gap: 12, marginTop: 46 }}&gt;&#10;            &lt;Box style={{ width: 6, height: 6, background: '#D9534F', borderRadius: 3 }} /&gt;&#10;            &lt;Text style={{ fontSize: 25, color: '#C5D8F0', letterSpacing: 2 }}&gt;&#10;                让每一份山货都有话说，让每一个村落都被听见&#10;            &lt;/Text&gt;&#10;        &lt;/Box&gt;&#10;&#10;        {/* 分隔线 */}&#10;        &lt;Box style={{ width: 520, height: 1, background: '#3A61A5', marginTop: 56, marginBottom: 36 }} /&gt;&#10;&#10;        {/* 信息区 */}&#10;        &lt;Box style={{ flexDirection: 'row', gap: 80 }}&gt;&#10;            &lt;Box style={{ flexDirection: 'column', alignItems: 'center', gap: 10 }}&gt;&#10;                &lt;Text style={{ fontSize: 14, color: '#8FB3DE', letterSpacing: 1 }}&gt;汇 报 单 位&lt;/Text&gt;&#10;                &lt;Text style={{ fontSize: 19, color: '#FFFFFF', fontWeight: 600 }}&gt;南昌航空大学科技学院&lt;/Text&gt;&#10;            &lt;/Box&gt;&#10;            &lt;Box style={{ flexDirection: 'column', alignItems: 'center', gap: 10 }}&gt;&#10;                &lt;Text style={{ fontSize: 14, color: '#8FB3DE', letterSpacing: 1 }}&gt;团 队 成 员&lt;/Text&gt;&#10;                &lt;Text style={{ fontSize: 19, color: '#FFFFFF', fontWeight: 600 }}&gt;刘奉淳　陈邦楠　张进超　周涛&lt;/Text&gt;&#10;            &lt;/Box&gt;&#10;            &lt;Box style={{ flexDirection: 'column', alignItems: 'center', gap: 10 }}&gt;&#10;                &lt;Text style={{ fontSize: 14, color: '#8FB3DE', letterSpacing: 1 }}&gt;指 导 教 师&lt;/Text&gt;&#10;                &lt;Text style={{ fontSize: 19, color: '#FFFFFF', fontWeight: 600 }}&gt;段欣妤　陈超&lt;/Text&gt;&#10;            &lt;/Box&gt;&#10;        &lt;/Box&gt;&#10;&#10;        {/* 演示提示 */}&#10;        &lt;Box style={{ flexDirection: 'row', alignItems: 'center', gap: 10, marginTop: 54, background: '#164C9E', borderRadius: 8, paddingLeft: 24, paddingRight: 24, paddingTop: 12, paddingBottom: 12 }}&gt;&#10;            &lt;Text style={{ fontSize: 16, color: '#C5D8F0' }}&gt;接下来进入现场演示环节，敬请指正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8382000" y="-9525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164C9E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-571500" y="4381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143F82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2E6FC7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3990975" y="1323975"/>
            <a:ext cx="419100" cy="38100"/>
          </a:xfrm>
          <a:prstGeom prst="rect">
            <a:avLst/>
          </a:prstGeom>
          <a:solidFill>
            <a:srgbClr val="2E6FC7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543425" y="1238250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00">
                <a:solidFill>
                  <a:srgbClr val="9FC0E8"/>
                </a:solidFill>
                <a:latin typeface="Microsoft YaHei"/>
                <a:ea typeface="Microsoft YaHei"/>
              </a:rPr>
              <a:t>THANK YOU FOR LISTENING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781925" y="1323975"/>
            <a:ext cx="419100" cy="38100"/>
          </a:xfrm>
          <a:prstGeom prst="rect">
            <a:avLst/>
          </a:prstGeom>
          <a:solidFill>
            <a:srgbClr val="2E6FC7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248150" y="1819275"/>
            <a:ext cx="370522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100" b="1" spc="600">
                <a:solidFill>
                  <a:srgbClr val="FFFFFF"/>
                </a:solidFill>
                <a:latin typeface="Microsoft YaHei"/>
                <a:ea typeface="Microsoft YaHei"/>
              </a:rPr>
              <a:t>感</a:t>
            </a:r>
            <a:r>
              <a:rPr lang="en-US" sz="5100" b="1" spc="6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5100" b="1" spc="600">
                <a:solidFill>
                  <a:srgbClr val="FFFFFF"/>
                </a:solidFill>
                <a:latin typeface="Microsoft YaHei"/>
                <a:ea typeface="Microsoft YaHei"/>
              </a:rPr>
              <a:t>谢</a:t>
            </a:r>
            <a:r>
              <a:rPr lang="en-US" sz="5100" b="1" spc="6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5100" b="1" spc="600">
                <a:solidFill>
                  <a:srgbClr val="FFFFFF"/>
                </a:solidFill>
                <a:latin typeface="Microsoft YaHei"/>
                <a:ea typeface="Microsoft YaHei"/>
              </a:rPr>
              <a:t>聆</a:t>
            </a:r>
            <a:r>
              <a:rPr lang="en-US" sz="5100" b="1" spc="600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5100" b="1" spc="600">
                <a:solidFill>
                  <a:srgbClr val="FFFFFF"/>
                </a:solidFill>
                <a:latin typeface="Microsoft YaHei"/>
                <a:ea typeface="Microsoft YaHei"/>
              </a:rPr>
              <a:t>听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3314700" y="31527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486150" y="3038475"/>
            <a:ext cx="54006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spc="150">
                <a:solidFill>
                  <a:srgbClr val="C5D8F0"/>
                </a:solidFill>
                <a:latin typeface="Microsoft YaHei"/>
                <a:ea typeface="Microsoft YaHei"/>
              </a:rPr>
              <a:t>让每一份山货都有话说，让每一个村落都被听见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3619500" y="3857625"/>
            <a:ext cx="4953000" cy="9525"/>
          </a:xfrm>
          <a:prstGeom prst="rect">
            <a:avLst/>
          </a:prstGeom>
          <a:solidFill>
            <a:srgbClr val="3A61A5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162300" y="4210050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汇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报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单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2619375" y="446722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南昌航空大学科技学院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0" y="4210050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团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队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成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员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191125" y="4467225"/>
            <a:ext cx="2533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刘奉淳　陈邦楠　张进超　周涛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667750" y="4210050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指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导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教</a:t>
            </a:r>
            <a:r>
              <a:rPr lang="en-US" sz="1050" spc="75">
                <a:solidFill>
                  <a:srgbClr val="8FB3D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spc="75">
                <a:solidFill>
                  <a:srgbClr val="8FB3DE"/>
                </a:solidFill>
                <a:latin typeface="Microsoft YaHei"/>
                <a:ea typeface="Microsoft YaHei"/>
              </a:rPr>
              <a:t>师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486775" y="44672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段欣妤　陈超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648200" y="5200650"/>
            <a:ext cx="2895600" cy="419100"/>
          </a:xfrm>
          <a:prstGeom prst="roundRect">
            <a:avLst>
              <a:gd name="adj" fmla="val 18182"/>
            </a:avLst>
          </a:prstGeom>
          <a:solidFill>
            <a:srgbClr val="164C9E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876800" y="531495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5D8F0"/>
                </a:solidFill>
                <a:latin typeface="Microsoft YaHei"/>
                <a:ea typeface="Microsoft YaHei"/>
              </a:rPr>
              <a:t>接下来进入现场演示环节，敬请指正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2026-10-08T20:20:31Z</dcterms:created>
  <dcterms:modified xsi:type="dcterms:W3CDTF">2026-10-08T20:20:31Z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{"AIGC":{"Label":"1","ContentProducer":"00119111010856365494821B355","ProduceID":"01a11b6c15fe715b9969821e627a6c4c","ReservedCode1":"","ContentPropagator":"00119111010856365494821B355","PropagateID":"01a11b6c15fe715b9969821e627a6c4c","ReservedCode2":""}}</vt:lpwstr>
  </property>
</Properties>
</file>